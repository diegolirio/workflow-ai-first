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5" r:id="rId13"/>
    <p:sldId id="266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5B765EA-5984-4AB4-BD67-F9CD5F7856A6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7"/>
            <p14:sldId id="265"/>
            <p14:sldId id="266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6C02C-FFCC-F9A5-B941-425602B5173C}" v="572" dt="2026-08-14T14:54:36.257"/>
    <p1510:client id="{FA179F11-0544-2AF5-4B3E-BACD33968C28}" v="6" dt="2026-08-14T14:57:2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F2B58-F746-4285-8393-3441F614143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2DC5A-91D9-42E3-B5C5-CEA36773D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stitucio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3312-4A65-4F44-ADD1-4A4180EBFB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89025"/>
            <a:ext cx="4897438" cy="911350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INSERIR TÍTULO DA APRESENTAÇÃO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3A8B9-0910-DD4F-B366-82B21936C5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407187"/>
            <a:ext cx="4897438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Inserir</a:t>
            </a:r>
            <a:r>
              <a:rPr lang="en-US"/>
              <a:t> </a:t>
            </a:r>
            <a:r>
              <a:rPr lang="en-US" err="1"/>
              <a:t>subtítulo</a:t>
            </a:r>
            <a:r>
              <a:rPr lang="en-US"/>
              <a:t>, se </a:t>
            </a:r>
            <a:r>
              <a:rPr lang="en-US" err="1"/>
              <a:t>houver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20124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orient="horz" pos="3566">
          <p15:clr>
            <a:srgbClr val="FBAE40"/>
          </p15:clr>
        </p15:guide>
        <p15:guide id="6">
          <p15:clr>
            <a:srgbClr val="FBAE40"/>
          </p15:clr>
        </p15:guide>
        <p15:guide id="10" orient="horz" pos="686">
          <p15:clr>
            <a:srgbClr val="FBAE40"/>
          </p15:clr>
        </p15:guide>
        <p15:guide id="11" orient="horz" pos="1502">
          <p15:clr>
            <a:srgbClr val="FBAE40"/>
          </p15:clr>
        </p15:guide>
        <p15:guide id="12" orient="horz" pos="1253">
          <p15:clr>
            <a:srgbClr val="FBAE40"/>
          </p15:clr>
        </p15:guide>
        <p15:guide id="13" orient="horz" pos="1752">
          <p15:clr>
            <a:srgbClr val="FBAE40"/>
          </p15:clr>
        </p15:guide>
        <p15:guide id="14" pos="3613">
          <p15:clr>
            <a:srgbClr val="FBAE40"/>
          </p15:clr>
        </p15:guide>
        <p15:guide id="15" pos="3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1BAD22-02E9-A44C-904A-33EB32554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061" y="256035"/>
            <a:ext cx="10496066" cy="977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/>
            </a:lvl1pPr>
          </a:lstStyle>
          <a:p>
            <a:r>
              <a:rPr lang="en-US"/>
              <a:t>CLIQUE PARA ADICIONAR UM TÍTULO,</a:t>
            </a:r>
            <a:br>
              <a:rPr lang="en-US"/>
            </a:br>
            <a:r>
              <a:rPr lang="en-US"/>
              <a:t>FONTE ARIAL 24 PT, BOLD</a:t>
            </a:r>
            <a:endParaRPr lang="en-BR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5ED7C4D-C9D4-BA4D-B92A-54C5C86369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060" y="1431236"/>
            <a:ext cx="11496261" cy="4682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</a:lstStyle>
          <a:p>
            <a:pPr lvl="0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o </a:t>
            </a:r>
            <a:r>
              <a:rPr lang="en-US" err="1"/>
              <a:t>texto</a:t>
            </a:r>
            <a:r>
              <a:rPr lang="en-US"/>
              <a:t> principal, </a:t>
            </a:r>
            <a:r>
              <a:rPr lang="en-US" err="1"/>
              <a:t>fonte</a:t>
            </a:r>
            <a:r>
              <a:rPr lang="en-US"/>
              <a:t> Arial 18pt, regular.</a:t>
            </a:r>
          </a:p>
          <a:p>
            <a:pPr lvl="1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secundário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16pt, regular.</a:t>
            </a:r>
          </a:p>
          <a:p>
            <a:pPr lvl="2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jurídico</a:t>
            </a:r>
            <a:r>
              <a:rPr lang="en-US"/>
              <a:t>, </a:t>
            </a:r>
            <a:r>
              <a:rPr lang="en-US" err="1"/>
              <a:t>referência</a:t>
            </a:r>
            <a:r>
              <a:rPr lang="en-US"/>
              <a:t> </a:t>
            </a:r>
            <a:r>
              <a:rPr lang="en-US" err="1"/>
              <a:t>bibliográfica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legendas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12pt regular.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F1FEB7-0D1A-6F48-AC37-56E108B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4083" y="630717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7F4BC7-91F7-8C4F-BE58-FF93957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648" y="6356349"/>
            <a:ext cx="5256213" cy="20478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/>
            </a:lvl1pPr>
          </a:lstStyle>
          <a:p>
            <a:pPr algn="l"/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Clique para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inserir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referenciais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legendas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notas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de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rodapé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Arial, 8pts.</a:t>
            </a:r>
            <a:endParaRPr lang="en-BR">
              <a:solidFill>
                <a:prstClr val="black">
                  <a:lumMod val="85000"/>
                  <a:lumOff val="15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2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orient="horz" pos="1253">
          <p15:clr>
            <a:srgbClr val="FBAE40"/>
          </p15:clr>
        </p15:guide>
        <p15:guide id="4" orient="horz" pos="3861">
          <p15:clr>
            <a:srgbClr val="FBAE40"/>
          </p15:clr>
        </p15:guide>
        <p15:guide id="5" pos="529">
          <p15:clr>
            <a:srgbClr val="FBAE40"/>
          </p15:clr>
        </p15:guide>
        <p15:guide id="6" pos="6992">
          <p15:clr>
            <a:srgbClr val="FBAE40"/>
          </p15:clr>
        </p15:guide>
        <p15:guide id="7" pos="7151">
          <p15:clr>
            <a:srgbClr val="FBAE40"/>
          </p15:clr>
        </p15:guide>
        <p15:guide id="8" pos="3840">
          <p15:clr>
            <a:srgbClr val="FBAE40"/>
          </p15:clr>
        </p15:guide>
        <p15:guide id="9" pos="7469">
          <p15:clr>
            <a:srgbClr val="FBAE40"/>
          </p15:clr>
        </p15:guide>
        <p15:guide id="10" pos="7310">
          <p15:clr>
            <a:srgbClr val="FBAE40"/>
          </p15:clr>
        </p15:guide>
        <p15:guide id="11" orient="horz" pos="4133">
          <p15:clr>
            <a:srgbClr val="FBAE40"/>
          </p15:clr>
        </p15:guide>
        <p15:guide id="12" orient="horz" pos="3997">
          <p15:clr>
            <a:srgbClr val="FBAE40"/>
          </p15:clr>
        </p15:guide>
        <p15:guide id="14" pos="57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Capítul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D4848F-F3F1-054F-81F3-D63BE4777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04383"/>
            <a:ext cx="4718050" cy="980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/>
            </a:lvl1pPr>
          </a:lstStyle>
          <a:p>
            <a:r>
              <a:rPr lang="en-US"/>
              <a:t>CLIQUE PARA ADD O TÍTULO DO CAPÍTULO</a:t>
            </a:r>
            <a:endParaRPr lang="en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3FF7AD-FD62-2B4B-8EA3-3542B7E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4523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A14E8E01-7894-79E7-35AC-671599B00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125" y="3320489"/>
            <a:ext cx="4713483" cy="71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r>
              <a:rPr lang="en-US" sz="1800" b="0"/>
              <a:t>Clique para add </a:t>
            </a:r>
            <a:r>
              <a:rPr lang="en-US" sz="1800" b="0" err="1"/>
              <a:t>subtítulo</a:t>
            </a:r>
            <a:r>
              <a:rPr lang="en-US" sz="1800" b="0"/>
              <a:t>, se </a:t>
            </a:r>
            <a:r>
              <a:rPr lang="en-US" sz="1800" b="0" err="1"/>
              <a:t>houver</a:t>
            </a:r>
            <a:endParaRPr lang="en-BR" sz="1800" b="0"/>
          </a:p>
        </p:txBody>
      </p:sp>
    </p:spTree>
    <p:extLst>
      <p:ext uri="{BB962C8B-B14F-4D97-AF65-F5344CB8AC3E}">
        <p14:creationId xmlns:p14="http://schemas.microsoft.com/office/powerpoint/2010/main" val="298506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pos="3500">
          <p15:clr>
            <a:srgbClr val="FBAE40"/>
          </p15:clr>
        </p15:guide>
        <p15:guide id="3" orient="horz" pos="1321">
          <p15:clr>
            <a:srgbClr val="FBAE40"/>
          </p15:clr>
        </p15:guide>
        <p15:guide id="4" orient="horz" pos="1933">
          <p15:clr>
            <a:srgbClr val="FBAE40"/>
          </p15:clr>
        </p15:guide>
        <p15:guide id="5" orient="horz" pos="2341">
          <p15:clr>
            <a:srgbClr val="FBAE40"/>
          </p15:clr>
        </p15:guide>
        <p15:guide id="6" orient="horz" pos="259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A1FAB2-B1F5-478B-F42D-826D9E12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CC1B-FB0D-46C7-981E-40BBB67EF93C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1FEDFA-4FCF-3426-0245-A510A606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211B9C-A766-19CD-9E8C-519C6DBC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CCF92-2B23-4EE7-A784-30E1477F6F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36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75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.cloud.microsoft/chat/agent/T_5f3a15cd-d7a0-54e9-8aff-a7b5eb6cc3e0.795fda79-b9db-40a4-92f6-b88b615166f9.gpt.79cb8a4d-021c-4d7b-9a87-b5be7a9343d7?fromCode=cmcv2&amp;redirectId=03A6A6F0B56D4EDCA27382CA327D84EA&amp;login_hint=ddamacena%40uolinc.com&amp;internalredirect=CCM&amp;client-request-id=0bb7aaa6-4827-42d5-b806-8a4b1e1bd2e4&amp;origindomain=CCM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s-investments/ai-skills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91440" tIns="45720" rIns="91440" bIns="45720" anchor="b"/>
          <a:lstStyle/>
          <a:p>
            <a:r>
              <a:rPr lang="pt-BR" dirty="0">
                <a:solidFill>
                  <a:srgbClr val="1A1F24"/>
                </a:solidFill>
                <a:latin typeface="Arial"/>
              </a:rPr>
              <a:t>Workflow</a:t>
            </a:r>
            <a:br>
              <a:rPr lang="pt-BR" dirty="0">
                <a:solidFill>
                  <a:srgbClr val="1A1F24"/>
                </a:solidFill>
                <a:latin typeface="Arial"/>
              </a:rPr>
            </a:br>
            <a:r>
              <a:rPr lang="pt-BR">
                <a:solidFill>
                  <a:srgbClr val="2C7E80"/>
                </a:solidFill>
                <a:latin typeface="Arial"/>
              </a:rPr>
              <a:t>Proposta para novos projetos</a:t>
            </a:r>
            <a:endParaRPr sz="3000" b="1" dirty="0">
              <a:solidFill>
                <a:srgbClr val="2C7E80"/>
              </a:solidFill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91440" tIns="45720" rIns="91440" bIns="45720" anchor="t"/>
          <a:lstStyle/>
          <a:p>
            <a:r>
              <a:rPr lang="pt-BR" sz="1400">
                <a:solidFill>
                  <a:srgbClr val="4D5358"/>
                </a:solidFill>
                <a:latin typeface="Arial"/>
                <a:cs typeface="Arial"/>
              </a:rPr>
              <a:t>Fluxo de desenvolvimento de ponta a ponta implementado </a:t>
            </a:r>
            <a:r>
              <a:rPr lang="pt-BR" sz="1400" dirty="0">
                <a:solidFill>
                  <a:srgbClr val="4D5358"/>
                </a:solidFill>
                <a:latin typeface="Arial"/>
                <a:cs typeface="Arial"/>
              </a:rPr>
              <a:t>por IA</a:t>
            </a:r>
            <a:endParaRPr lang="pt-BR" sz="1400" b="0" dirty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3428017"/>
            <a:ext cx="4937760" cy="1183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sz="3000" b="1" dirty="0" err="1">
                <a:solidFill>
                  <a:srgbClr val="1A1F24"/>
                </a:solidFill>
                <a:latin typeface="Arial"/>
              </a:rPr>
              <a:t>Product</a:t>
            </a:r>
            <a:r>
              <a:rPr lang="pt-BR" sz="3000" b="1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3000" b="1" dirty="0" err="1">
                <a:solidFill>
                  <a:srgbClr val="1A1F24"/>
                </a:solidFill>
                <a:latin typeface="Arial"/>
              </a:rPr>
              <a:t>Engineering</a:t>
            </a:r>
            <a:endParaRPr lang="pt-BR" sz="3000" b="1" dirty="0" err="1">
              <a:solidFill>
                <a:srgbClr val="1A1F24"/>
              </a:solidFill>
              <a:latin typeface="Arial"/>
              <a:cs typeface="Arial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sz="1400">
                <a:solidFill>
                  <a:srgbClr val="4D5358"/>
                </a:solidFill>
                <a:cs typeface="Arial"/>
              </a:rPr>
              <a:t>Não vamos falar de PO e desenvolvedor mas sim do 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profissional com foco na produtividade para entrega de produtos.</a:t>
            </a:r>
            <a:endParaRPr lang="pt-BR" dirty="0"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265174"/>
            <a:ext cx="4937760" cy="1132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sz="1600" b="1" dirty="0" err="1">
                <a:solidFill>
                  <a:schemeClr val="accent5">
                    <a:lumMod val="49000"/>
                  </a:schemeClr>
                </a:solidFill>
                <a:latin typeface="Arial"/>
              </a:rPr>
              <a:t>Guardrails</a:t>
            </a:r>
            <a:endParaRPr lang="pt-BR" dirty="0" err="1">
              <a:solidFill>
                <a:schemeClr val="accent5">
                  <a:lumMod val="49000"/>
                </a:schemeClr>
              </a:solidFill>
            </a:endParaRP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sz="1300" dirty="0">
                <a:solidFill>
                  <a:srgbClr val="4D5358"/>
                </a:solidFill>
                <a:latin typeface="Arial"/>
              </a:rPr>
              <a:t>Garantem agilidade e qualidade, teremos constituições, skills e agentes especifico para garantir a qualidade executando testes 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integrados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,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regressivos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na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Pipeline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, testes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to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envolvendo o app e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backend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.</a:t>
            </a:r>
            <a:endParaRPr sz="1300" b="0" dirty="0">
              <a:solidFill>
                <a:srgbClr val="767C8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3A038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Mudança de </a:t>
            </a:r>
            <a:r>
              <a:rPr sz="2800" b="1" err="1">
                <a:solidFill>
                  <a:srgbClr val="1A1F24"/>
                </a:solidFill>
                <a:latin typeface="Arial"/>
              </a:rPr>
              <a:t>mentalidade</a:t>
            </a:r>
            <a:r>
              <a:rPr sz="2800" b="1">
                <a:solidFill>
                  <a:srgbClr val="1A1F24"/>
                </a:solidFill>
                <a:latin typeface="Arial"/>
              </a:rPr>
              <a:t> no </a:t>
            </a:r>
            <a:r>
              <a:rPr sz="2800" b="1" err="1">
                <a:solidFill>
                  <a:srgbClr val="1A1F24"/>
                </a:solidFill>
                <a:latin typeface="Arial"/>
              </a:rPr>
              <a:t>jeito</a:t>
            </a:r>
            <a:r>
              <a:rPr sz="2800" b="1">
                <a:solidFill>
                  <a:srgbClr val="1A1F24"/>
                </a:solidFill>
                <a:latin typeface="Arial"/>
              </a:rPr>
              <a:t> de </a:t>
            </a:r>
            <a:r>
              <a:rPr sz="2800" b="1" err="1">
                <a:solidFill>
                  <a:srgbClr val="1A1F24"/>
                </a:solidFill>
                <a:latin typeface="Arial"/>
              </a:rPr>
              <a:t>desenvolver</a:t>
            </a:r>
            <a:endParaRPr lang="pt-BR" sz="2800" b="1" err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10424160" cy="44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err="1">
                <a:solidFill>
                  <a:srgbClr val="4D5358"/>
                </a:solidFill>
                <a:latin typeface="Arial"/>
              </a:rPr>
              <a:t>Especificar</a:t>
            </a:r>
            <a:r>
              <a:rPr sz="1400" b="0">
                <a:solidFill>
                  <a:srgbClr val="4D5358"/>
                </a:solidFill>
                <a:latin typeface="Arial"/>
              </a:rPr>
              <a:t> e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planejar</a:t>
            </a:r>
            <a:r>
              <a:rPr sz="1400" b="0">
                <a:solidFill>
                  <a:srgbClr val="4D5358"/>
                </a:solidFill>
                <a:latin typeface="Arial"/>
              </a:rPr>
              <a:t>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deixaram</a:t>
            </a:r>
            <a:r>
              <a:rPr sz="1400" b="0">
                <a:solidFill>
                  <a:srgbClr val="4D5358"/>
                </a:solidFill>
                <a:latin typeface="Arial"/>
              </a:rPr>
              <a:t> de ser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etapa</a:t>
            </a:r>
            <a:r>
              <a:rPr sz="1400" b="0">
                <a:solidFill>
                  <a:srgbClr val="4D5358"/>
                </a:solidFill>
                <a:latin typeface="Arial"/>
              </a:rPr>
              <a:t>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opcional</a:t>
            </a:r>
            <a:r>
              <a:rPr sz="1400" b="0">
                <a:solidFill>
                  <a:srgbClr val="4D5358"/>
                </a:solidFill>
                <a:latin typeface="Arial"/>
              </a:rPr>
              <a:t>: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viraram</a:t>
            </a:r>
            <a:r>
              <a:rPr sz="1400" b="0">
                <a:solidFill>
                  <a:srgbClr val="4D5358"/>
                </a:solidFill>
                <a:latin typeface="Arial"/>
              </a:rPr>
              <a:t>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pré-requisito</a:t>
            </a:r>
            <a:r>
              <a:rPr sz="1400" b="0">
                <a:solidFill>
                  <a:srgbClr val="4D5358"/>
                </a:solidFill>
                <a:latin typeface="Arial"/>
              </a:rPr>
              <a:t> da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velocidade</a:t>
            </a:r>
            <a:r>
              <a:rPr sz="1400" b="0">
                <a:solidFill>
                  <a:srgbClr val="4D5358"/>
                </a:solidFill>
                <a:latin typeface="Arial"/>
              </a:rPr>
              <a:t>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que</a:t>
            </a:r>
            <a:r>
              <a:rPr sz="1400" b="0">
                <a:solidFill>
                  <a:srgbClr val="4D5358"/>
                </a:solidFill>
                <a:latin typeface="Arial"/>
              </a:rPr>
              <a:t>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queremos</a:t>
            </a:r>
            <a:r>
              <a:rPr sz="1400" b="0">
                <a:solidFill>
                  <a:srgbClr val="4D5358"/>
                </a:solidFill>
                <a:latin typeface="Arial"/>
              </a:rPr>
              <a:t>. Quem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escreve</a:t>
            </a:r>
            <a:r>
              <a:rPr sz="1400" b="0">
                <a:solidFill>
                  <a:srgbClr val="4D5358"/>
                </a:solidFill>
                <a:latin typeface="Arial"/>
              </a:rPr>
              <a:t> o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código</a:t>
            </a:r>
            <a:r>
              <a:rPr sz="1400" b="0">
                <a:solidFill>
                  <a:srgbClr val="4D5358"/>
                </a:solidFill>
                <a:latin typeface="Arial"/>
              </a:rPr>
              <a:t> é a IA</a:t>
            </a:r>
            <a:r>
              <a:rPr lang="pt-BR" sz="1400">
                <a:solidFill>
                  <a:srgbClr val="4D5358"/>
                </a:solidFill>
                <a:latin typeface="Arial"/>
              </a:rPr>
              <a:t>,</a:t>
            </a:r>
            <a:r>
              <a:rPr sz="1400" b="0">
                <a:solidFill>
                  <a:srgbClr val="4D5358"/>
                </a:solidFill>
                <a:latin typeface="Arial"/>
              </a:rPr>
              <a:t> o time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guia</a:t>
            </a:r>
            <a:r>
              <a:rPr sz="1400" b="0">
                <a:solidFill>
                  <a:srgbClr val="4D5358"/>
                </a:solidFill>
                <a:latin typeface="Arial"/>
              </a:rPr>
              <a:t> o </a:t>
            </a:r>
            <a:r>
              <a:rPr sz="1400" b="0" err="1">
                <a:solidFill>
                  <a:srgbClr val="4D5358"/>
                </a:solidFill>
                <a:latin typeface="Arial"/>
              </a:rPr>
              <a:t>caminho</a:t>
            </a:r>
            <a:r>
              <a:rPr sz="1400" b="0">
                <a:solidFill>
                  <a:srgbClr val="4D5358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2286000"/>
            <a:ext cx="2514600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2286000"/>
            <a:ext cx="2514600" cy="109728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2542032"/>
            <a:ext cx="2103120" cy="471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err="1">
                <a:solidFill>
                  <a:srgbClr val="1A1F24"/>
                </a:solidFill>
                <a:latin typeface="Arial"/>
              </a:rPr>
              <a:t>Mudança</a:t>
            </a:r>
            <a:r>
              <a:rPr sz="1500" b="1">
                <a:solidFill>
                  <a:srgbClr val="1A1F24"/>
                </a:solidFill>
                <a:latin typeface="Arial"/>
              </a:rPr>
              <a:t> de </a:t>
            </a:r>
            <a:r>
              <a:rPr sz="1500" b="1" err="1">
                <a:solidFill>
                  <a:srgbClr val="1A1F24"/>
                </a:solidFill>
                <a:latin typeface="Arial"/>
              </a:rPr>
              <a:t>mentalidade</a:t>
            </a:r>
            <a:endParaRPr lang="pt-BR" sz="1500" b="1" err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" y="3291840"/>
            <a:ext cx="2103120" cy="77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4D5358"/>
                </a:solidFill>
                <a:latin typeface="Arial"/>
              </a:rPr>
              <a:t>Quem coda é a IA. O dev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especifica</a:t>
            </a:r>
            <a:r>
              <a:rPr sz="1150" b="0">
                <a:solidFill>
                  <a:srgbClr val="4D5358"/>
                </a:solidFill>
                <a:latin typeface="Arial"/>
              </a:rPr>
              <a:t>; se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sair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diferente</a:t>
            </a:r>
            <a:r>
              <a:rPr sz="1150" b="0">
                <a:solidFill>
                  <a:srgbClr val="4D5358"/>
                </a:solidFill>
                <a:latin typeface="Arial"/>
              </a:rPr>
              <a:t> do esperado, </a:t>
            </a:r>
            <a:r>
              <a:rPr lang="pt-BR" sz="1150">
                <a:solidFill>
                  <a:srgbClr val="4D5358"/>
                </a:solidFill>
                <a:latin typeface="Arial"/>
              </a:rPr>
              <a:t>DEV ajusta</a:t>
            </a:r>
            <a:r>
              <a:rPr sz="1150" b="0">
                <a:solidFill>
                  <a:srgbClr val="4D5358"/>
                </a:solidFill>
                <a:latin typeface="Arial"/>
              </a:rPr>
              <a:t> a spec e a IA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reescreve</a:t>
            </a:r>
            <a:r>
              <a:rPr sz="1150" b="0">
                <a:solidFill>
                  <a:srgbClr val="4D5358"/>
                </a:solidFill>
                <a:latin typeface="Arial"/>
              </a:rPr>
              <a:t> o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código</a:t>
            </a:r>
            <a:r>
              <a:rPr sz="1150" b="0">
                <a:solidFill>
                  <a:srgbClr val="4D5358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2286000"/>
            <a:ext cx="2514600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93592" y="2286000"/>
            <a:ext cx="2514600" cy="10972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2" y="2542032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Pressão de 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32918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D5358"/>
                </a:solidFill>
                <a:latin typeface="Arial"/>
              </a:rPr>
              <a:t>Implementar ficou fácil. O risco agora — neste e nos próximos projetos — é garantir qualidade e segurança.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286000"/>
            <a:ext cx="2514600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2286000"/>
            <a:ext cx="2514600" cy="10972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542032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Complexidade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918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D5358"/>
                </a:solidFill>
                <a:latin typeface="Arial"/>
              </a:rPr>
              <a:t>Aporte, endosso, planos e produtos com muitas variações. Precisamos entender bem para especificar certo.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2286000"/>
            <a:ext cx="2514600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8552" y="2286000"/>
            <a:ext cx="2514600" cy="109728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2103120" cy="471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1A1F24"/>
                </a:solidFill>
                <a:latin typeface="Arial"/>
              </a:rPr>
              <a:t>Agilidade nas mudanças</a:t>
            </a:r>
            <a:endParaRPr lang="pt-BR" sz="1500" b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17152" y="3291840"/>
            <a:ext cx="2103120" cy="1173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0" err="1">
                <a:solidFill>
                  <a:srgbClr val="4D5358"/>
                </a:solidFill>
                <a:latin typeface="Arial"/>
              </a:rPr>
              <a:t>Mudanças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pontuais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não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150">
                <a:solidFill>
                  <a:srgbClr val="4D5358"/>
                </a:solidFill>
                <a:latin typeface="Arial"/>
              </a:rPr>
              <a:t>quebram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150">
                <a:solidFill>
                  <a:srgbClr val="4D5358"/>
                </a:solidFill>
                <a:latin typeface="Arial"/>
              </a:rPr>
              <a:t>os fluxos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existentes</a:t>
            </a:r>
            <a:r>
              <a:rPr sz="1150" b="0">
                <a:solidFill>
                  <a:srgbClr val="4D5358"/>
                </a:solidFill>
                <a:latin typeface="Arial"/>
              </a:rPr>
              <a:t>,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como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pagamento</a:t>
            </a:r>
            <a:r>
              <a:rPr sz="1150" b="0">
                <a:solidFill>
                  <a:srgbClr val="4D5358"/>
                </a:solidFill>
                <a:latin typeface="Arial"/>
              </a:rPr>
              <a:t> e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roteiro</a:t>
            </a:r>
            <a:r>
              <a:rPr sz="1150" b="0">
                <a:solidFill>
                  <a:srgbClr val="4D5358"/>
                </a:solidFill>
                <a:latin typeface="Arial"/>
              </a:rPr>
              <a:t> </a:t>
            </a:r>
            <a:r>
              <a:rPr sz="1150" b="0" err="1">
                <a:solidFill>
                  <a:srgbClr val="4D5358"/>
                </a:solidFill>
                <a:latin typeface="Arial"/>
              </a:rPr>
              <a:t>contábil</a:t>
            </a:r>
            <a:r>
              <a:rPr lang="pt-BR" sz="1150">
                <a:solidFill>
                  <a:srgbClr val="4D5358"/>
                </a:solidFill>
                <a:latin typeface="Arial"/>
              </a:rPr>
              <a:t>, alteramos as especificações e a AI implementa as correções.</a:t>
            </a:r>
            <a:endParaRPr sz="1150" b="0">
              <a:solidFill>
                <a:srgbClr val="4D5358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" y="5074920"/>
            <a:ext cx="10378440" cy="822960"/>
          </a:xfrm>
          <a:prstGeom prst="round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Maturidade e workflow </a:t>
            </a:r>
            <a:r>
              <a:rPr sz="1500" b="0">
                <a:solidFill>
                  <a:srgbClr val="1A1F24"/>
                </a:solidFill>
                <a:latin typeface="Arial"/>
              </a:rPr>
              <a:t>mantêm a IA dentro do contexto — e protegem os fluxos já existentes.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Contexto e desafio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7E80"/>
                </a:solidFill>
                <a:latin typeface="Arial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Três pilares para a velocidade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691640"/>
            <a:ext cx="3429000" cy="406908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691640"/>
            <a:ext cx="3429000" cy="10972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0432" y="1965960"/>
            <a:ext cx="731520" cy="731520"/>
          </a:xfrm>
          <a:prstGeom prst="ellipse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83464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A1F24"/>
                </a:solidFill>
                <a:latin typeface="Arial"/>
              </a:rPr>
              <a:t>Workflow, Spec-Driven &amp; PO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C7E80"/>
                </a:solidFill>
                <a:latin typeface="Arial"/>
              </a:rPr>
              <a:t>Negócio claro antes de codar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794760"/>
            <a:ext cx="2926080" cy="988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Specs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claras</a:t>
            </a:r>
            <a:r>
              <a:rPr sz="1200" b="0">
                <a:solidFill>
                  <a:srgbClr val="4D5358"/>
                </a:solidFill>
                <a:latin typeface="Arial"/>
              </a:rPr>
              <a:t> antes de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codar</a:t>
            </a:r>
            <a:endParaRPr lang="pt-BR" sz="1200" b="0" err="1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Agente</a:t>
            </a:r>
            <a:r>
              <a:rPr sz="1200" b="0">
                <a:solidFill>
                  <a:srgbClr val="4D5358"/>
                </a:solidFill>
                <a:latin typeface="Arial"/>
              </a:rPr>
              <a:t> Product Owner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refina</a:t>
            </a:r>
            <a:r>
              <a:rPr sz="1200" b="0">
                <a:solidFill>
                  <a:srgbClr val="4D5358"/>
                </a:solidFill>
                <a:latin typeface="Arial"/>
              </a:rPr>
              <a:t>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requisitos</a:t>
            </a:r>
            <a:r>
              <a:rPr lang="pt-BR" sz="1200">
                <a:solidFill>
                  <a:srgbClr val="4D5358"/>
                </a:solidFill>
                <a:latin typeface="Arial"/>
              </a:rPr>
              <a:t> funcionais (v2)</a:t>
            </a:r>
            <a:endParaRPr sz="1200" b="0" err="1">
              <a:solidFill>
                <a:srgbClr val="4D5358"/>
              </a:solidFill>
              <a:latin typeface="Arial"/>
              <a:cs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Spec-Driven + Jira MCP +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691640"/>
            <a:ext cx="3429000" cy="406908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691640"/>
            <a:ext cx="3429000" cy="109728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28032" y="1965960"/>
            <a:ext cx="731520" cy="731520"/>
          </a:xfrm>
          <a:prstGeom prst="ellipse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834640"/>
            <a:ext cx="2926080" cy="484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700" b="1">
                <a:solidFill>
                  <a:srgbClr val="1A1F24"/>
                </a:solidFill>
                <a:latin typeface="Arial"/>
              </a:rPr>
              <a:t>Skills</a:t>
            </a:r>
            <a:r>
              <a:rPr lang="pt-BR" sz="1700" b="1">
                <a:solidFill>
                  <a:srgbClr val="1A1F24"/>
                </a:solidFill>
                <a:latin typeface="Arial"/>
              </a:rPr>
              <a:t>,</a:t>
            </a:r>
            <a:r>
              <a:rPr sz="1700" b="1">
                <a:solidFill>
                  <a:srgbClr val="1A1F24"/>
                </a:solidFill>
                <a:latin typeface="Arial"/>
              </a:rPr>
              <a:t> Agents</a:t>
            </a:r>
            <a:r>
              <a:rPr lang="pt-BR" sz="1700" b="1">
                <a:solidFill>
                  <a:srgbClr val="1A1F24"/>
                </a:solidFill>
                <a:latin typeface="Arial"/>
              </a:rPr>
              <a:t> e </a:t>
            </a:r>
            <a:r>
              <a:rPr lang="pt-BR" sz="1700" b="1" err="1">
                <a:solidFill>
                  <a:srgbClr val="1A1F24"/>
                </a:solidFill>
                <a:latin typeface="Arial"/>
              </a:rPr>
              <a:t>MCPs</a:t>
            </a:r>
            <a:endParaRPr sz="1700" b="1" err="1">
              <a:solidFill>
                <a:srgbClr val="1A1F24"/>
              </a:solidFill>
              <a:latin typeface="Arial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err="1">
                <a:solidFill>
                  <a:srgbClr val="2C7E80"/>
                </a:solidFill>
                <a:latin typeface="Arial"/>
              </a:rPr>
              <a:t>Padronização</a:t>
            </a:r>
            <a:r>
              <a:rPr sz="1200" b="1">
                <a:solidFill>
                  <a:srgbClr val="2C7E80"/>
                </a:solidFill>
                <a:latin typeface="Arial"/>
              </a:rPr>
              <a:t> do </a:t>
            </a:r>
            <a:r>
              <a:rPr sz="1200" b="1" err="1">
                <a:solidFill>
                  <a:srgbClr val="2C7E80"/>
                </a:solidFill>
                <a:latin typeface="Arial"/>
              </a:rPr>
              <a:t>código</a:t>
            </a:r>
            <a:endParaRPr sz="1200" b="1" err="1">
              <a:solidFill>
                <a:srgbClr val="2C7E8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28032" y="3794760"/>
            <a:ext cx="2926080" cy="2196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</a:t>
            </a:r>
            <a:r>
              <a:rPr lang="pt-BR" sz="1200">
                <a:solidFill>
                  <a:srgbClr val="4D5358"/>
                </a:solidFill>
                <a:latin typeface="Arial"/>
              </a:rPr>
              <a:t> Skills para código</a:t>
            </a:r>
            <a:r>
              <a:rPr sz="1200" b="0">
                <a:solidFill>
                  <a:srgbClr val="4D5358"/>
                </a:solidFill>
                <a:latin typeface="Arial"/>
              </a:rPr>
              <a:t> no padrão do time </a:t>
            </a:r>
            <a:endParaRPr lang="pt-BR" sz="1200">
              <a:solidFill>
                <a:srgbClr val="4D5358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</a:t>
            </a:r>
            <a:r>
              <a:rPr lang="pt-BR" sz="1200">
                <a:solidFill>
                  <a:srgbClr val="4D5358"/>
                </a:solidFill>
                <a:latin typeface="Arial"/>
              </a:rPr>
              <a:t> </a:t>
            </a:r>
            <a:r>
              <a:rPr sz="1200" b="0">
                <a:solidFill>
                  <a:srgbClr val="4D5358"/>
                </a:solidFill>
                <a:latin typeface="Arial"/>
              </a:rPr>
              <a:t> Clean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Architecture</a:t>
            </a:r>
            <a:r>
              <a:rPr sz="1200" b="0">
                <a:solidFill>
                  <a:srgbClr val="4D5358"/>
                </a:solidFill>
                <a:latin typeface="Arial"/>
              </a:rPr>
              <a:t> + CQRS </a:t>
            </a:r>
            <a:endParaRPr lang="pt-BR" sz="1200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00" b="0">
                <a:solidFill>
                  <a:srgbClr val="4D5358"/>
                </a:solidFill>
                <a:latin typeface="Arial"/>
              </a:rPr>
              <a:t>• </a:t>
            </a:r>
            <a:r>
              <a:rPr lang="en-US" sz="1200">
                <a:solidFill>
                  <a:srgbClr val="4D5358"/>
                </a:solidFill>
                <a:latin typeface="Arial"/>
              </a:rPr>
              <a:t> PROJECT.md e Instructions.md</a:t>
            </a:r>
            <a:endParaRPr lang="pt-BR"/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pt-BR" sz="1200">
                <a:solidFill>
                  <a:srgbClr val="4D5358"/>
                </a:solidFill>
                <a:latin typeface="Arial"/>
              </a:rPr>
              <a:t>• </a:t>
            </a:r>
            <a:r>
              <a:rPr sz="1200" b="0">
                <a:solidFill>
                  <a:srgbClr val="4D5358"/>
                </a:solidFill>
                <a:latin typeface="Arial"/>
              </a:rPr>
              <a:t> Menos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divergência</a:t>
            </a:r>
            <a:r>
              <a:rPr sz="1200" b="0">
                <a:solidFill>
                  <a:srgbClr val="4D5358"/>
                </a:solidFill>
                <a:latin typeface="Arial"/>
              </a:rPr>
              <a:t> entre </a:t>
            </a:r>
            <a:r>
              <a:rPr sz="1200" b="0" err="1">
                <a:solidFill>
                  <a:srgbClr val="4D5358"/>
                </a:solidFill>
                <a:latin typeface="Arial"/>
              </a:rPr>
              <a:t>devs</a:t>
            </a:r>
            <a:endParaRPr sz="1200" b="0" err="1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pt-BR" sz="1200">
                <a:solidFill>
                  <a:srgbClr val="4D5358"/>
                </a:solidFill>
                <a:latin typeface="Arial"/>
                <a:cs typeface="Arial"/>
              </a:rPr>
              <a:t>•  </a:t>
            </a:r>
            <a:r>
              <a:rPr lang="en-US" sz="1200" err="1">
                <a:solidFill>
                  <a:srgbClr val="4D5358"/>
                </a:solidFill>
                <a:latin typeface="Arial"/>
                <a:cs typeface="Arial"/>
              </a:rPr>
              <a:t>Repositório</a:t>
            </a:r>
            <a:r>
              <a:rPr lang="en-US" sz="1200">
                <a:solidFill>
                  <a:srgbClr val="4D5358"/>
                </a:solidFill>
                <a:latin typeface="Arial"/>
                <a:cs typeface="Arial"/>
              </a:rPr>
              <a:t> para </a:t>
            </a:r>
            <a:r>
              <a:rPr lang="en-US" sz="1200" err="1">
                <a:solidFill>
                  <a:srgbClr val="4D5358"/>
                </a:solidFill>
                <a:latin typeface="Arial"/>
                <a:cs typeface="Arial"/>
              </a:rPr>
              <a:t>manter</a:t>
            </a:r>
            <a:r>
              <a:rPr lang="en-US" sz="1200">
                <a:solidFill>
                  <a:srgbClr val="4D5358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4D5358"/>
                </a:solidFill>
                <a:latin typeface="Arial"/>
                <a:cs typeface="Arial"/>
              </a:rPr>
              <a:t>padrão</a:t>
            </a:r>
            <a:r>
              <a:rPr lang="en-US" sz="1200">
                <a:solidFill>
                  <a:srgbClr val="4D5358"/>
                </a:solidFill>
                <a:latin typeface="Arial"/>
                <a:cs typeface="Arial"/>
              </a:rPr>
              <a:t> entre </a:t>
            </a:r>
            <a:r>
              <a:rPr lang="en-US" sz="1200" err="1">
                <a:solidFill>
                  <a:srgbClr val="4D5358"/>
                </a:solidFill>
                <a:latin typeface="Arial"/>
                <a:cs typeface="Arial"/>
              </a:rPr>
              <a:t>os </a:t>
            </a:r>
            <a:r>
              <a:rPr lang="en-US" sz="1200">
                <a:solidFill>
                  <a:srgbClr val="4D5358"/>
                </a:solidFill>
                <a:latin typeface="Arial"/>
                <a:cs typeface="Arial"/>
              </a:rPr>
              <a:t>s</a:t>
            </a:r>
            <a:r>
              <a:rPr lang="en-US" sz="1200" err="1">
                <a:solidFill>
                  <a:srgbClr val="4D5358"/>
                </a:solidFill>
                <a:latin typeface="Arial"/>
                <a:cs typeface="Arial"/>
              </a:rPr>
              <a:t>erviços</a:t>
            </a:r>
            <a:endParaRPr lang="en-US" sz="1200" err="1">
              <a:solidFill>
                <a:srgbClr val="4D5358"/>
              </a:solidFill>
              <a:cs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endParaRPr lang="pt-BR" sz="1200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endParaRPr lang="pt-BR" sz="120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11312" y="1691640"/>
            <a:ext cx="3429000" cy="406908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691640"/>
            <a:ext cx="3429000" cy="10972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5632" y="1965960"/>
            <a:ext cx="731520" cy="731520"/>
          </a:xfrm>
          <a:prstGeom prst="ellipse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834640"/>
            <a:ext cx="2926080" cy="484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A1F24"/>
                </a:solidFill>
                <a:latin typeface="Arial"/>
              </a:rPr>
              <a:t>TDD </a:t>
            </a:r>
            <a:r>
              <a:rPr sz="1700" b="1" err="1">
                <a:solidFill>
                  <a:srgbClr val="1A1F24"/>
                </a:solidFill>
                <a:latin typeface="Arial"/>
              </a:rPr>
              <a:t>Integrado</a:t>
            </a:r>
            <a:endParaRPr lang="pt-BR" sz="1700" b="1" err="1">
              <a:solidFill>
                <a:srgbClr val="1A1F24"/>
              </a:solidFill>
              <a:latin typeface="Arial"/>
              <a:cs typeface="Arial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00" b="1">
                <a:solidFill>
                  <a:srgbClr val="2C7E80"/>
                </a:solidFill>
                <a:latin typeface="Arial"/>
              </a:rPr>
              <a:t>Testes </a:t>
            </a:r>
            <a:r>
              <a:rPr sz="1200" b="1" err="1">
                <a:solidFill>
                  <a:srgbClr val="2C7E80"/>
                </a:solidFill>
                <a:latin typeface="Arial"/>
              </a:rPr>
              <a:t>que</a:t>
            </a:r>
            <a:r>
              <a:rPr sz="1200" b="1">
                <a:solidFill>
                  <a:srgbClr val="2C7E80"/>
                </a:solidFill>
                <a:latin typeface="Arial"/>
              </a:rPr>
              <a:t> </a:t>
            </a:r>
            <a:r>
              <a:rPr sz="1200" b="1" err="1">
                <a:solidFill>
                  <a:srgbClr val="2C7E80"/>
                </a:solidFill>
                <a:latin typeface="Arial"/>
              </a:rPr>
              <a:t>blindam</a:t>
            </a:r>
            <a:r>
              <a:rPr lang="pt-BR" sz="1200" b="1">
                <a:solidFill>
                  <a:srgbClr val="2C7E80"/>
                </a:solidFill>
                <a:latin typeface="Arial"/>
              </a:rPr>
              <a:t> o fluxo</a:t>
            </a:r>
            <a:endParaRPr sz="1200" b="1">
              <a:solidFill>
                <a:srgbClr val="2C7E80"/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85632" y="379476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Especificar testes antes do código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Testcontainers + Flyway + Migrations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D5358"/>
                </a:solidFill>
                <a:latin typeface="Arial"/>
              </a:rPr>
              <a:t>•  Integrados e regressivos na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8978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C7E80"/>
                </a:solidFill>
                <a:latin typeface="Arial"/>
              </a:rPr>
              <a:t>Refina  →  Gera no padrão  →  Testa e blinda  →  Entrega com confiança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Os 3 pilares com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3 PILARES</a:t>
            </a:r>
            <a:endParaRPr sz="1500" b="1">
              <a:solidFill>
                <a:srgbClr val="E3A038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Workflow: negócio claro antes de codar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10424160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0">
                <a:solidFill>
                  <a:srgbClr val="4D5358"/>
                </a:solidFill>
                <a:latin typeface="Arial"/>
              </a:rPr>
              <a:t>Um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agente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1">
                <a:solidFill>
                  <a:srgbClr val="E3A038"/>
                </a:solidFill>
                <a:latin typeface="Arial"/>
              </a:rPr>
              <a:t>Product Owner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refina</a:t>
            </a:r>
            <a:r>
              <a:rPr sz="1350" b="0">
                <a:solidFill>
                  <a:srgbClr val="4D5358"/>
                </a:solidFill>
                <a:latin typeface="Arial"/>
              </a:rPr>
              <a:t> a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demanda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em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uma</a:t>
            </a:r>
            <a:r>
              <a:rPr sz="1350" b="0">
                <a:solidFill>
                  <a:srgbClr val="4D5358"/>
                </a:solidFill>
                <a:latin typeface="Arial"/>
              </a:rPr>
              <a:t> spec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executável</a:t>
            </a:r>
            <a:r>
              <a:rPr sz="1350" b="0">
                <a:solidFill>
                  <a:srgbClr val="4D5358"/>
                </a:solidFill>
                <a:latin typeface="Arial"/>
              </a:rPr>
              <a:t>.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Codar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só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começa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quando</a:t>
            </a:r>
            <a:r>
              <a:rPr sz="1350" b="0">
                <a:solidFill>
                  <a:srgbClr val="4D5358"/>
                </a:solidFill>
                <a:latin typeface="Arial"/>
              </a:rPr>
              <a:t> o </a:t>
            </a:r>
            <a:r>
              <a:rPr sz="1350" b="1" err="1">
                <a:solidFill>
                  <a:srgbClr val="1A1F24"/>
                </a:solidFill>
                <a:latin typeface="Arial"/>
              </a:rPr>
              <a:t>o</a:t>
            </a:r>
            <a:r>
              <a:rPr sz="1350" b="1">
                <a:solidFill>
                  <a:srgbClr val="1A1F24"/>
                </a:solidFill>
                <a:latin typeface="Arial"/>
              </a:rPr>
              <a:t> </a:t>
            </a:r>
            <a:r>
              <a:rPr sz="1350" b="1" err="1">
                <a:solidFill>
                  <a:srgbClr val="1A1F24"/>
                </a:solidFill>
                <a:latin typeface="Arial"/>
              </a:rPr>
              <a:t>quê</a:t>
            </a:r>
            <a:r>
              <a:rPr sz="1350" b="0">
                <a:solidFill>
                  <a:srgbClr val="4D5358"/>
                </a:solidFill>
                <a:latin typeface="Arial"/>
              </a:rPr>
              <a:t> e o </a:t>
            </a:r>
            <a:r>
              <a:rPr sz="1350" b="1" err="1">
                <a:solidFill>
                  <a:srgbClr val="1A1F24"/>
                </a:solidFill>
                <a:latin typeface="Arial"/>
              </a:rPr>
              <a:t>porquê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estão</a:t>
            </a:r>
            <a:r>
              <a:rPr sz="1350" b="0">
                <a:solidFill>
                  <a:srgbClr val="4D5358"/>
                </a:solidFill>
                <a:latin typeface="Arial"/>
              </a:rPr>
              <a:t> claros. Workflow =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maturidade</a:t>
            </a:r>
            <a:r>
              <a:rPr sz="1350" b="0">
                <a:solidFill>
                  <a:srgbClr val="4D5358"/>
                </a:solidFill>
                <a:latin typeface="Arial"/>
              </a:rPr>
              <a:t> = </a:t>
            </a:r>
            <a:r>
              <a:rPr lang="pt-BR" sz="1350" b="0" err="1">
                <a:solidFill>
                  <a:srgbClr val="4D5358"/>
                </a:solidFill>
                <a:latin typeface="Arial"/>
              </a:rPr>
              <a:t>velocidade</a:t>
            </a:r>
            <a:r>
              <a:rPr sz="1350" b="0">
                <a:solidFill>
                  <a:srgbClr val="4D5358"/>
                </a:solidFill>
                <a:latin typeface="Arial"/>
              </a:rPr>
              <a:t>.</a:t>
            </a:r>
            <a:r>
              <a:rPr lang="pt-BR" sz="1350">
                <a:solidFill>
                  <a:srgbClr val="4D5358"/>
                </a:solidFill>
                <a:latin typeface="Arial"/>
              </a:rPr>
              <a:t>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996" y="2168504"/>
            <a:ext cx="2647827" cy="1260496"/>
          </a:xfrm>
          <a:prstGeom prst="roundRect">
            <a:avLst/>
          </a:prstGeom>
          <a:solidFill>
            <a:srgbClr val="E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9080" y="2148840"/>
            <a:ext cx="109728" cy="1280160"/>
          </a:xfrm>
          <a:prstGeom prst="rect">
            <a:avLst/>
          </a:prstGeom>
          <a:solidFill>
            <a:srgbClr val="DC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1688" y="2313432"/>
            <a:ext cx="1202486" cy="204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767C82"/>
                </a:solidFill>
                <a:latin typeface="Arial"/>
              </a:rPr>
              <a:t>PO</a:t>
            </a:r>
            <a:r>
              <a:rPr sz="1000" b="0">
                <a:solidFill>
                  <a:srgbClr val="767C82"/>
                </a:solidFill>
                <a:latin typeface="Arial"/>
              </a:rPr>
              <a:t>   (</a:t>
            </a:r>
            <a:r>
              <a:rPr lang="pt-BR" sz="1000">
                <a:solidFill>
                  <a:srgbClr val="767C82"/>
                </a:solidFill>
                <a:latin typeface="Arial"/>
              </a:rPr>
              <a:t>em breve</a:t>
            </a:r>
            <a:r>
              <a:rPr sz="1000" b="0">
                <a:solidFill>
                  <a:srgbClr val="767C82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856" y="2789511"/>
            <a:ext cx="2184237" cy="46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200">
                <a:solidFill>
                  <a:srgbClr val="767C82"/>
                </a:solidFill>
                <a:latin typeface="Arial"/>
              </a:rPr>
              <a:t>Especifica </a:t>
            </a:r>
            <a:r>
              <a:rPr sz="1200" b="0">
                <a:solidFill>
                  <a:srgbClr val="767C82"/>
                </a:solidFill>
                <a:latin typeface="Arial"/>
              </a:rPr>
              <a:t>o </a:t>
            </a:r>
            <a:r>
              <a:rPr sz="1200" b="0" err="1">
                <a:solidFill>
                  <a:srgbClr val="767C82"/>
                </a:solidFill>
                <a:latin typeface="Arial"/>
              </a:rPr>
              <a:t>Jiracard</a:t>
            </a:r>
            <a:r>
              <a:rPr lang="pt-BR" sz="1200">
                <a:solidFill>
                  <a:srgbClr val="767C82"/>
                </a:solidFill>
                <a:latin typeface="Arial"/>
              </a:rPr>
              <a:t> com o </a:t>
            </a:r>
            <a:endParaRPr lang="pt-BR" sz="1200" err="1">
              <a:solidFill>
                <a:srgbClr val="767C82"/>
              </a:solidFill>
              <a:latin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200">
                <a:solidFill>
                  <a:srgbClr val="767C82"/>
                </a:solidFill>
                <a:latin typeface="Arial"/>
                <a:hlinkClick r:id="rId2"/>
              </a:rPr>
              <a:t>PO.Agent Copilot</a:t>
            </a:r>
            <a:endParaRPr lang="pt-BR" sz="1200" b="0">
              <a:solidFill>
                <a:srgbClr val="767C82"/>
              </a:solidFill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 rot="2100000">
            <a:off x="1228444" y="3540695"/>
            <a:ext cx="482862" cy="303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2C7E8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1303" y="3589266"/>
            <a:ext cx="3041118" cy="12801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96555" y="3594182"/>
            <a:ext cx="109728" cy="1280160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163" y="3753858"/>
            <a:ext cx="1512202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350" b="1" err="1">
                <a:solidFill>
                  <a:srgbClr val="2C7E80"/>
                </a:solidFill>
                <a:latin typeface="Arial"/>
              </a:rPr>
              <a:t>Dev</a:t>
            </a:r>
            <a:r>
              <a:rPr lang="pt-BR" sz="1350" b="1">
                <a:solidFill>
                  <a:srgbClr val="2C7E80"/>
                </a:solidFill>
                <a:latin typeface="Arial"/>
              </a:rPr>
              <a:t> + </a:t>
            </a:r>
            <a:r>
              <a:rPr lang="pt-BR" b="1" err="1">
                <a:solidFill>
                  <a:srgbClr val="2C7E80"/>
                </a:solidFill>
                <a:latin typeface="Arial"/>
              </a:rPr>
              <a:t>Copilot</a:t>
            </a:r>
            <a:endParaRPr b="1" err="1">
              <a:solidFill>
                <a:srgbClr val="2C7E80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03911" y="4166026"/>
            <a:ext cx="1805695" cy="675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 err="1">
                <a:solidFill>
                  <a:srgbClr val="1A1F24"/>
                </a:solidFill>
                <a:latin typeface="Arial"/>
              </a:rPr>
              <a:t>Especificações</a:t>
            </a:r>
            <a:r>
              <a:rPr sz="1200" b="0">
                <a:solidFill>
                  <a:srgbClr val="1A1F24"/>
                </a:solidFill>
                <a:latin typeface="Arial"/>
              </a:rPr>
              <a:t> com Jira MCP + </a:t>
            </a:r>
            <a:r>
              <a:rPr sz="1200" b="1" err="1">
                <a:solidFill>
                  <a:srgbClr val="1A1F24"/>
                </a:solidFill>
                <a:latin typeface="Arial"/>
              </a:rPr>
              <a:t>OpenSpec</a:t>
            </a:r>
            <a:r>
              <a:rPr lang="pt-BR" sz="1200" b="1">
                <a:solidFill>
                  <a:srgbClr val="1A1F24"/>
                </a:solidFill>
                <a:latin typeface="Arial"/>
              </a:rPr>
              <a:t> 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20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spec*.md</a:t>
            </a:r>
            <a:r>
              <a:rPr lang="pt-BR" sz="1200">
                <a:solidFill>
                  <a:srgbClr val="1A1F24"/>
                </a:solidFill>
                <a:latin typeface="Arial"/>
                <a:cs typeface="Arial"/>
              </a:rPr>
              <a:t>  </a:t>
            </a:r>
            <a:r>
              <a:rPr lang="pt-BR" sz="120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proposal.md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654" y="4022476"/>
            <a:ext cx="246888" cy="303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2C7E80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8401" y="3601064"/>
            <a:ext cx="3070614" cy="129490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93485" y="3605981"/>
            <a:ext cx="109728" cy="1280160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25422" y="3755824"/>
            <a:ext cx="1354886" cy="303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C7E80"/>
                </a:solidFill>
                <a:latin typeface="Arial"/>
              </a:rPr>
              <a:t>Dev </a:t>
            </a:r>
            <a:r>
              <a:rPr lang="pt-BR" sz="1350" b="1">
                <a:solidFill>
                  <a:srgbClr val="2C7E80"/>
                </a:solidFill>
                <a:latin typeface="Arial"/>
              </a:rPr>
              <a:t>+</a:t>
            </a:r>
            <a:r>
              <a:rPr sz="1350" b="1">
                <a:solidFill>
                  <a:srgbClr val="2C7E80"/>
                </a:solidFill>
                <a:latin typeface="Arial"/>
              </a:rPr>
              <a:t> </a:t>
            </a:r>
            <a:r>
              <a:rPr sz="2000" b="1">
                <a:solidFill>
                  <a:srgbClr val="2C7E80"/>
                </a:solidFill>
                <a:latin typeface="Arial"/>
              </a:rPr>
              <a:t>Kiro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5422" y="4231901"/>
            <a:ext cx="2375965" cy="390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 err="1">
                <a:solidFill>
                  <a:srgbClr val="1A1F24"/>
                </a:solidFill>
                <a:latin typeface="Arial"/>
              </a:rPr>
              <a:t>Implementa</a:t>
            </a:r>
            <a:r>
              <a:rPr sz="1200" b="0">
                <a:solidFill>
                  <a:srgbClr val="1A1F24"/>
                </a:solidFill>
                <a:latin typeface="Arial"/>
              </a:rPr>
              <a:t> o código</a:t>
            </a:r>
            <a:r>
              <a:rPr lang="pt-BR" sz="1200">
                <a:solidFill>
                  <a:srgbClr val="1A1F24"/>
                </a:solidFill>
                <a:latin typeface="Arial"/>
              </a:rPr>
              <a:t> e roda os testes</a:t>
            </a:r>
            <a:endParaRPr lang="pt-BR" sz="1200" b="0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37478" y="5184058"/>
            <a:ext cx="3291840" cy="1280160"/>
          </a:xfrm>
          <a:prstGeom prst="roundRect">
            <a:avLst/>
          </a:prstGeom>
          <a:solidFill>
            <a:srgbClr val="E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37478" y="5184058"/>
            <a:ext cx="109728" cy="1280160"/>
          </a:xfrm>
          <a:prstGeom prst="rect">
            <a:avLst/>
          </a:prstGeom>
          <a:solidFill>
            <a:srgbClr val="DC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0086" y="5348650"/>
            <a:ext cx="2834640" cy="204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767C82"/>
                </a:solidFill>
                <a:latin typeface="Arial"/>
              </a:rPr>
              <a:t>QA</a:t>
            </a:r>
            <a:r>
              <a:rPr sz="1000" b="0">
                <a:solidFill>
                  <a:srgbClr val="767C82"/>
                </a:solidFill>
                <a:latin typeface="Arial"/>
              </a:rPr>
              <a:t>   (</a:t>
            </a:r>
            <a:r>
              <a:rPr lang="pt-BR" sz="1000">
                <a:solidFill>
                  <a:srgbClr val="767C82"/>
                </a:solidFill>
                <a:latin typeface="Arial"/>
              </a:rPr>
              <a:t>em breve</a:t>
            </a:r>
            <a:r>
              <a:rPr sz="1000" b="0">
                <a:solidFill>
                  <a:srgbClr val="767C82"/>
                </a:solidFill>
                <a:latin typeface="Arial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086" y="5750986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67C82"/>
                </a:solidFill>
                <a:latin typeface="Arial"/>
              </a:rPr>
              <a:t>Testes com TestSpec a partir do tests.md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Workflow e Spec-Driven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B5C6B0DA-9F63-496A-4E45-257110F17135}"/>
              </a:ext>
            </a:extLst>
          </p:cNvPr>
          <p:cNvSpPr txBox="1"/>
          <p:nvPr/>
        </p:nvSpPr>
        <p:spPr>
          <a:xfrm rot="2100000">
            <a:off x="8371579" y="4853300"/>
            <a:ext cx="482862" cy="303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2C7E80"/>
                </a:solidFill>
                <a:latin typeface="Arial"/>
              </a:rPr>
              <a:t>→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779CF535-EC08-9D01-FA3C-C7ACF7CBDC90}"/>
              </a:ext>
            </a:extLst>
          </p:cNvPr>
          <p:cNvSpPr txBox="1"/>
          <p:nvPr/>
        </p:nvSpPr>
        <p:spPr>
          <a:xfrm>
            <a:off x="2120229" y="2245197"/>
            <a:ext cx="928167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b="1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Gargalo</a:t>
            </a: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16358A0-C865-F406-3BD6-9F950F81C7E9}"/>
              </a:ext>
            </a:extLst>
          </p:cNvPr>
          <p:cNvSpPr txBox="1"/>
          <p:nvPr/>
        </p:nvSpPr>
        <p:spPr>
          <a:xfrm>
            <a:off x="10153181" y="5268615"/>
            <a:ext cx="1085483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b="1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Gargalo</a:t>
            </a: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908A2E56-2D82-6017-8181-CC9C2631EB25}"/>
              </a:ext>
            </a:extLst>
          </p:cNvPr>
          <p:cNvSpPr txBox="1"/>
          <p:nvPr/>
        </p:nvSpPr>
        <p:spPr>
          <a:xfrm>
            <a:off x="3816294" y="2795801"/>
            <a:ext cx="5347764" cy="585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000" b="1" dirty="0" err="1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Produividade</a:t>
            </a:r>
            <a:r>
              <a:rPr lang="pt-BR" sz="2000" b="1" dirty="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 de 80% no desenvolvimento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200" b="1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Cards que antes eram de 24h em 8h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3 PILARES</a:t>
            </a:r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Skills</a:t>
            </a:r>
            <a:r>
              <a:rPr lang="pt-BR" sz="2800" b="1">
                <a:solidFill>
                  <a:srgbClr val="1A1F24"/>
                </a:solidFill>
                <a:latin typeface="Arial"/>
              </a:rPr>
              <a:t>, </a:t>
            </a:r>
            <a:r>
              <a:rPr sz="2800" b="1" err="1">
                <a:solidFill>
                  <a:srgbClr val="1A1F24"/>
                </a:solidFill>
                <a:latin typeface="Arial"/>
              </a:rPr>
              <a:t>Agents</a:t>
            </a:r>
            <a:r>
              <a:rPr lang="pt-BR" sz="2800" b="1">
                <a:solidFill>
                  <a:srgbClr val="1A1F24"/>
                </a:solidFill>
                <a:latin typeface="Arial"/>
              </a:rPr>
              <a:t> e </a:t>
            </a:r>
            <a:r>
              <a:rPr lang="pt-BR" sz="2800" b="1" err="1">
                <a:solidFill>
                  <a:srgbClr val="1A1F24"/>
                </a:solidFill>
                <a:latin typeface="Arial"/>
              </a:rPr>
              <a:t>MCPs</a:t>
            </a:r>
            <a:r>
              <a:rPr sz="2800" b="1">
                <a:solidFill>
                  <a:srgbClr val="1A1F24"/>
                </a:solidFill>
                <a:latin typeface="Arial"/>
              </a:rPr>
              <a:t>: padronização do código</a:t>
            </a:r>
            <a:endParaRPr lang="pt-BR">
              <a:cs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675120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D5358"/>
                </a:solidFill>
                <a:latin typeface="Arial"/>
                <a:hlinkClick r:id="rId2"/>
              </a:rPr>
              <a:t>Repositório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criado</a:t>
            </a:r>
            <a:r>
              <a:rPr sz="1350" b="0">
                <a:solidFill>
                  <a:srgbClr val="4D5358"/>
                </a:solidFill>
                <a:latin typeface="Arial"/>
              </a:rPr>
              <a:t> para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os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devs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compartilharem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solução</a:t>
            </a:r>
            <a:r>
              <a:rPr sz="1350" b="0">
                <a:solidFill>
                  <a:srgbClr val="4D5358"/>
                </a:solidFill>
                <a:latin typeface="Arial"/>
              </a:rPr>
              <a:t>. O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código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nasce</a:t>
            </a:r>
            <a:r>
              <a:rPr sz="1350" b="0">
                <a:solidFill>
                  <a:srgbClr val="4D5358"/>
                </a:solidFill>
                <a:latin typeface="Arial"/>
              </a:rPr>
              <a:t>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já</a:t>
            </a:r>
            <a:r>
              <a:rPr sz="1350" b="0">
                <a:solidFill>
                  <a:srgbClr val="4D5358"/>
                </a:solidFill>
                <a:latin typeface="Arial"/>
              </a:rPr>
              <a:t> no </a:t>
            </a:r>
            <a:r>
              <a:rPr sz="1350" b="1" err="1">
                <a:solidFill>
                  <a:srgbClr val="2C7E80"/>
                </a:solidFill>
                <a:latin typeface="Arial"/>
              </a:rPr>
              <a:t>formato</a:t>
            </a:r>
            <a:r>
              <a:rPr sz="1350" b="1">
                <a:solidFill>
                  <a:srgbClr val="2C7E80"/>
                </a:solidFill>
                <a:latin typeface="Arial"/>
              </a:rPr>
              <a:t> </a:t>
            </a:r>
            <a:r>
              <a:rPr sz="1350" b="1" err="1">
                <a:solidFill>
                  <a:srgbClr val="2C7E80"/>
                </a:solidFill>
                <a:latin typeface="Arial"/>
              </a:rPr>
              <a:t>esperado</a:t>
            </a:r>
            <a:r>
              <a:rPr sz="1350" b="0">
                <a:solidFill>
                  <a:srgbClr val="4D5358"/>
                </a:solidFill>
                <a:latin typeface="Arial"/>
              </a:rPr>
              <a:t>: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arquitetura</a:t>
            </a:r>
            <a:r>
              <a:rPr sz="1350" b="0">
                <a:solidFill>
                  <a:srgbClr val="4D5358"/>
                </a:solidFill>
                <a:latin typeface="Arial"/>
              </a:rPr>
              <a:t>, </a:t>
            </a:r>
            <a:r>
              <a:rPr sz="1350" b="0" err="1">
                <a:solidFill>
                  <a:srgbClr val="4D5358"/>
                </a:solidFill>
                <a:latin typeface="Arial"/>
              </a:rPr>
              <a:t>nomenclatura</a:t>
            </a:r>
            <a:r>
              <a:rPr sz="1350" b="0">
                <a:solidFill>
                  <a:srgbClr val="4D5358"/>
                </a:solidFill>
                <a:latin typeface="Arial"/>
              </a:rPr>
              <a:t> e testes.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2514600"/>
            <a:ext cx="667512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2514600"/>
            <a:ext cx="91440" cy="731520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A1F24"/>
                </a:solidFill>
                <a:latin typeface="Arial"/>
              </a:rPr>
              <a:t>Consistência  —  </a:t>
            </a:r>
            <a:r>
              <a:rPr sz="1250" b="0">
                <a:solidFill>
                  <a:srgbClr val="4D5358"/>
                </a:solidFill>
                <a:latin typeface="Arial"/>
              </a:rPr>
              <a:t>Mesmo padrão em todos os módulos e devs, com skills de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383280"/>
            <a:ext cx="667512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3383280"/>
            <a:ext cx="91440" cy="731520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69628"/>
            <a:ext cx="6309360" cy="2045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 err="1">
                <a:solidFill>
                  <a:srgbClr val="1A1F24"/>
                </a:solidFill>
                <a:latin typeface="Arial"/>
              </a:rPr>
              <a:t>Velocidade</a:t>
            </a:r>
            <a:r>
              <a:rPr sz="1350" b="1">
                <a:solidFill>
                  <a:srgbClr val="1A1F24"/>
                </a:solidFill>
                <a:latin typeface="Arial"/>
              </a:rPr>
              <a:t>  —  </a:t>
            </a:r>
            <a:r>
              <a:rPr lang="pt-BR" sz="1250" err="1">
                <a:solidFill>
                  <a:srgbClr val="4D5358"/>
                </a:solidFill>
                <a:latin typeface="Arial"/>
              </a:rPr>
              <a:t>Scaffolding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instantâneo</a:t>
            </a:r>
            <a:r>
              <a:rPr sz="1250" b="0">
                <a:solidFill>
                  <a:srgbClr val="4D5358"/>
                </a:solidFill>
                <a:latin typeface="Arial"/>
              </a:rPr>
              <a:t> de endpoints, handlers e consumers.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251960"/>
            <a:ext cx="667512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" y="4251960"/>
            <a:ext cx="91440" cy="731520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A1F24"/>
                </a:solidFill>
                <a:latin typeface="Arial"/>
              </a:rPr>
              <a:t>Clean + CQRS  —  </a:t>
            </a:r>
            <a:r>
              <a:rPr sz="1250" b="0">
                <a:solidFill>
                  <a:srgbClr val="4D5358"/>
                </a:solidFill>
                <a:latin typeface="Arial"/>
              </a:rPr>
              <a:t>Camadas e limites de módulo respeitados por padrão.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120640"/>
            <a:ext cx="667512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" y="5120640"/>
            <a:ext cx="91440" cy="731520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406988"/>
            <a:ext cx="6309360" cy="2045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350" b="1" err="1">
                <a:solidFill>
                  <a:srgbClr val="1A1F24"/>
                </a:solidFill>
                <a:latin typeface="Arial"/>
              </a:rPr>
              <a:t>Pull</a:t>
            </a:r>
            <a:r>
              <a:rPr lang="pt-BR" sz="1350" b="1">
                <a:solidFill>
                  <a:srgbClr val="1A1F24"/>
                </a:solidFill>
                <a:latin typeface="Arial"/>
              </a:rPr>
              <a:t> </a:t>
            </a:r>
            <a:r>
              <a:rPr lang="pt-BR" sz="1350" b="1" err="1">
                <a:solidFill>
                  <a:srgbClr val="1A1F24"/>
                </a:solidFill>
                <a:latin typeface="Arial"/>
              </a:rPr>
              <a:t>Requests</a:t>
            </a:r>
            <a:r>
              <a:rPr sz="1350" b="1">
                <a:solidFill>
                  <a:srgbClr val="1A1F24"/>
                </a:solidFill>
                <a:latin typeface="Arial"/>
              </a:rPr>
              <a:t>  —  </a:t>
            </a:r>
            <a:r>
              <a:rPr sz="1250" b="0">
                <a:solidFill>
                  <a:srgbClr val="4D5358"/>
                </a:solidFill>
                <a:latin typeface="Arial"/>
              </a:rPr>
              <a:t>Code review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foca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em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negócio</a:t>
            </a:r>
            <a:r>
              <a:rPr sz="1250" b="0">
                <a:solidFill>
                  <a:srgbClr val="4D5358"/>
                </a:solidFill>
                <a:latin typeface="Arial"/>
              </a:rPr>
              <a:t>,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não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no design </a:t>
            </a:r>
            <a:r>
              <a:rPr sz="1250" b="0">
                <a:solidFill>
                  <a:srgbClr val="4D5358"/>
                </a:solidFill>
                <a:latin typeface="Arial"/>
              </a:rPr>
              <a:t>do 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código </a:t>
            </a:r>
            <a:r>
              <a:rPr sz="1250" b="0">
                <a:solidFill>
                  <a:srgbClr val="4D5358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566843"/>
            <a:ext cx="3429000" cy="4422477"/>
          </a:xfrm>
          <a:prstGeom prst="round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1784785"/>
            <a:ext cx="2926080" cy="242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Skills </a:t>
            </a:r>
            <a:r>
              <a:rPr lang="pt-BR" sz="1600" b="1">
                <a:solidFill>
                  <a:srgbClr val="1A1F24"/>
                </a:solidFill>
                <a:latin typeface="Arial"/>
              </a:rPr>
              <a:t>compartilhadas (setup)</a:t>
            </a:r>
            <a:endParaRPr lang="pt-BR" sz="1600" b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38160" y="423576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create-rest-endpoint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544143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create-kafka-consumer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911479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create-kafka-producer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29480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create-http-provider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60352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create-orm-entity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8817" y="303442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 setup-testcontainers-oracle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Os 3 pilares com IA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E2F8B143-6914-9B64-DA5D-9E5763CCDF0F}"/>
              </a:ext>
            </a:extLst>
          </p:cNvPr>
          <p:cNvSpPr txBox="1"/>
          <p:nvPr/>
        </p:nvSpPr>
        <p:spPr>
          <a:xfrm>
            <a:off x="8138160" y="388428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Skills do projeto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B3C260AF-C801-B2BB-3D65-5294A91E65B1}"/>
              </a:ext>
            </a:extLst>
          </p:cNvPr>
          <p:cNvSpPr txBox="1"/>
          <p:nvPr/>
        </p:nvSpPr>
        <p:spPr>
          <a:xfrm>
            <a:off x="8148817" y="2123219"/>
            <a:ext cx="3017520" cy="181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pagstage-init</a:t>
            </a:r>
            <a:endParaRPr sz="1200" b="0" err="1">
              <a:solidFill>
                <a:srgbClr val="1A1F24"/>
              </a:solidFill>
              <a:latin typeface="Arial"/>
            </a:endParaRPr>
          </a:p>
        </p:txBody>
      </p:sp>
      <p:sp>
        <p:nvSpPr>
          <p:cNvPr id="31" name="TextBox 26">
            <a:extLst>
              <a:ext uri="{FF2B5EF4-FFF2-40B4-BE49-F238E27FC236}">
                <a16:creationId xmlns:a16="http://schemas.microsoft.com/office/drawing/2014/main" id="{A2AD8CFF-2657-CECC-2B8E-15AB0C3CD4A4}"/>
              </a:ext>
            </a:extLst>
          </p:cNvPr>
          <p:cNvSpPr txBox="1"/>
          <p:nvPr/>
        </p:nvSpPr>
        <p:spPr>
          <a:xfrm>
            <a:off x="8148817" y="2405639"/>
            <a:ext cx="3017520" cy="181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</a:t>
            </a:r>
            <a:r>
              <a:rPr lang="en-US" sz="1200">
                <a:solidFill>
                  <a:srgbClr val="1A1F24"/>
                </a:solidFill>
                <a:ea typeface="+mn-lt"/>
                <a:cs typeface="+mn-lt"/>
              </a:rPr>
              <a:t>setup-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atlassian</a:t>
            </a:r>
            <a:r>
              <a:rPr lang="en-US" sz="1200">
                <a:solidFill>
                  <a:srgbClr val="1A1F24"/>
                </a:solidFill>
                <a:ea typeface="+mn-lt"/>
                <a:cs typeface="+mn-lt"/>
              </a:rPr>
              <a:t>-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mcp</a:t>
            </a:r>
            <a:endParaRPr sz="1200" b="0" err="1">
              <a:solidFill>
                <a:srgbClr val="1A1F24"/>
              </a:solidFill>
              <a:latin typeface="Arial"/>
            </a:endParaRP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97F79F1C-4C9F-6D9F-D1B1-4F69258B43B3}"/>
              </a:ext>
            </a:extLst>
          </p:cNvPr>
          <p:cNvSpPr txBox="1"/>
          <p:nvPr/>
        </p:nvSpPr>
        <p:spPr>
          <a:xfrm>
            <a:off x="8148817" y="2704044"/>
            <a:ext cx="3017520" cy="181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</a:t>
            </a:r>
            <a:r>
              <a:rPr lang="en-US" sz="1200">
                <a:solidFill>
                  <a:srgbClr val="1A1F24"/>
                </a:solidFill>
                <a:ea typeface="+mn-lt"/>
                <a:cs typeface="+mn-lt"/>
              </a:rPr>
              <a:t>setup-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testcontainers</a:t>
            </a:r>
            <a:r>
              <a:rPr lang="en-US" sz="1200">
                <a:solidFill>
                  <a:srgbClr val="1A1F24"/>
                </a:solidFill>
                <a:ea typeface="+mn-lt"/>
                <a:cs typeface="+mn-lt"/>
              </a:rPr>
              <a:t>-arch-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kafka</a:t>
            </a:r>
            <a:endParaRPr lang="pt-BR" sz="1200" b="0" err="1">
              <a:solidFill>
                <a:srgbClr val="1A1F24"/>
              </a:solidFill>
              <a:ea typeface="+mn-lt"/>
              <a:cs typeface="+mn-lt"/>
            </a:endParaRP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89A18779-21FE-568C-60A2-86415AC826DB}"/>
              </a:ext>
            </a:extLst>
          </p:cNvPr>
          <p:cNvSpPr txBox="1"/>
          <p:nvPr/>
        </p:nvSpPr>
        <p:spPr>
          <a:xfrm>
            <a:off x="8148817" y="3348814"/>
            <a:ext cx="3017520" cy="181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F24"/>
                </a:solidFill>
                <a:latin typeface="Arial"/>
              </a:rPr>
              <a:t>› </a:t>
            </a:r>
            <a:r>
              <a:rPr lang="en-US" sz="1200" err="1">
                <a:solidFill>
                  <a:srgbClr val="1A1F24"/>
                </a:solidFill>
                <a:ea typeface="+mn-lt"/>
                <a:cs typeface="+mn-lt"/>
              </a:rPr>
              <a:t>sql</a:t>
            </a:r>
            <a:r>
              <a:rPr lang="en-US" sz="1200">
                <a:solidFill>
                  <a:srgbClr val="1A1F24"/>
                </a:solidFill>
                <a:ea typeface="+mn-lt"/>
                <a:cs typeface="+mn-lt"/>
              </a:rPr>
              <a:t>-compliance-validation</a:t>
            </a:r>
            <a:endParaRPr sz="1200" b="0">
              <a:solidFill>
                <a:srgbClr val="1A1F2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D36D6E"/>
                </a:solidFill>
                <a:cs typeface="Arial"/>
              </a:rPr>
              <a:t>3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Testes integrados com Testcontainers e Flyway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26" y="1554480"/>
            <a:ext cx="10343378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D5358"/>
                </a:solidFill>
                <a:latin typeface="Arial"/>
              </a:rPr>
              <a:t>Cada fluxo é exercitado de ponta a ponta contra um banco </a:t>
            </a:r>
            <a:r>
              <a:rPr sz="1350" b="1">
                <a:solidFill>
                  <a:srgbClr val="D36D6E"/>
                </a:solidFill>
                <a:latin typeface="Arial"/>
              </a:rPr>
              <a:t>Oracle real</a:t>
            </a:r>
            <a:r>
              <a:rPr sz="1350" b="0">
                <a:solidFill>
                  <a:srgbClr val="4D5358"/>
                </a:solidFill>
                <a:latin typeface="Arial"/>
              </a:rPr>
              <a:t> em container, com schema versionado por </a:t>
            </a:r>
            <a:r>
              <a:rPr sz="1350" b="1">
                <a:solidFill>
                  <a:srgbClr val="2C7E80"/>
                </a:solidFill>
                <a:latin typeface="Arial"/>
              </a:rPr>
              <a:t>Flyway</a:t>
            </a:r>
            <a:r>
              <a:rPr sz="1350" b="0">
                <a:solidFill>
                  <a:srgbClr val="4D5358"/>
                </a:solidFill>
                <a:latin typeface="Arial"/>
              </a:rPr>
              <a:t>. Testes integrados e regressivos blindam a evolução.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2026" y="2471971"/>
            <a:ext cx="4069080" cy="32004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2026" y="2471971"/>
            <a:ext cx="4069080" cy="109728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6345" y="2654851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Arquitetura dos testes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6345" y="3203491"/>
            <a:ext cx="164592" cy="530352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6386" y="3203491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F24"/>
                </a:solidFill>
                <a:latin typeface="Arial"/>
              </a:rPr>
              <a:t>Testcontainers — Oracle, Kafka, Redis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6345" y="3953299"/>
            <a:ext cx="164592" cy="530352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6386" y="3953299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F24"/>
                </a:solidFill>
                <a:latin typeface="Arial"/>
              </a:rPr>
              <a:t>Flyway — db.migration versionada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6345" y="4703107"/>
            <a:ext cx="164592" cy="530352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6386" y="4811453"/>
            <a:ext cx="3291840" cy="3776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A1F24"/>
                </a:solidFill>
                <a:latin typeface="Arial"/>
              </a:rPr>
              <a:t>API</a:t>
            </a:r>
            <a:r>
              <a:rPr lang="pt-BR" sz="1200" b="1">
                <a:solidFill>
                  <a:srgbClr val="1A1F24"/>
                </a:solidFill>
                <a:latin typeface="Arial"/>
              </a:rPr>
              <a:t> </a:t>
            </a:r>
            <a:r>
              <a:rPr sz="1200" b="1">
                <a:solidFill>
                  <a:srgbClr val="1A1F24"/>
                </a:solidFill>
                <a:latin typeface="Arial"/>
              </a:rPr>
              <a:t>— </a:t>
            </a:r>
            <a:r>
              <a:rPr sz="1200" b="1" err="1">
                <a:solidFill>
                  <a:srgbClr val="1A1F24"/>
                </a:solidFill>
                <a:latin typeface="Arial"/>
              </a:rPr>
              <a:t>Controller</a:t>
            </a:r>
            <a:r>
              <a:rPr lang="pt-BR" sz="1200" b="1">
                <a:solidFill>
                  <a:srgbClr val="1A1F24"/>
                </a:solidFill>
                <a:latin typeface="Arial"/>
              </a:rPr>
              <a:t>/</a:t>
            </a:r>
            <a:r>
              <a:rPr lang="pt-BR" sz="1200" b="1" err="1">
                <a:solidFill>
                  <a:srgbClr val="1A1F24"/>
                </a:solidFill>
                <a:latin typeface="Arial"/>
              </a:rPr>
              <a:t>Listeners</a:t>
            </a:r>
            <a:r>
              <a:rPr lang="pt-BR" sz="1200" b="1">
                <a:solidFill>
                  <a:srgbClr val="1A1F24"/>
                </a:solidFill>
                <a:latin typeface="Arial"/>
              </a:rPr>
              <a:t> </a:t>
            </a:r>
            <a:r>
              <a:rPr sz="1200" b="1">
                <a:solidFill>
                  <a:srgbClr val="1A1F24"/>
                </a:solidFill>
                <a:latin typeface="Arial"/>
              </a:rPr>
              <a:t>→ </a:t>
            </a:r>
            <a:r>
              <a:rPr lang="pt-BR" sz="1200" b="1" err="1">
                <a:solidFill>
                  <a:srgbClr val="1A1F24"/>
                </a:solidFill>
                <a:latin typeface="Arial"/>
              </a:rPr>
              <a:t>Application</a:t>
            </a:r>
            <a:r>
              <a:rPr lang="pt-BR" sz="1200" b="1">
                <a:solidFill>
                  <a:srgbClr val="1A1F24"/>
                </a:solidFill>
                <a:latin typeface="Arial"/>
              </a:rPr>
              <a:t> Service </a:t>
            </a:r>
            <a:r>
              <a:rPr sz="1200" b="1">
                <a:solidFill>
                  <a:srgbClr val="1A1F24"/>
                </a:solidFill>
                <a:latin typeface="Arial"/>
              </a:rPr>
              <a:t>→ </a:t>
            </a:r>
            <a:r>
              <a:rPr lang="pt-BR" sz="1200" b="1" err="1">
                <a:solidFill>
                  <a:srgbClr val="1A1F24"/>
                </a:solidFill>
                <a:latin typeface="Arial"/>
              </a:rPr>
              <a:t>Infrastructure</a:t>
            </a:r>
            <a:endParaRPr lang="pt-BR" sz="1200" b="1" err="1">
              <a:solidFill>
                <a:srgbClr val="1A1F24"/>
              </a:solidFill>
              <a:latin typeface="Arial"/>
              <a:cs typeface="Arial"/>
            </a:endParaRPr>
          </a:p>
        </p:txBody>
      </p:sp>
      <p:pic>
        <p:nvPicPr>
          <p:cNvPr id="28" name="Imagem 27" descr="Diagrama&#10;&#10;O conteúdo gerado por IA pode estar incorreto.">
            <a:extLst>
              <a:ext uri="{FF2B5EF4-FFF2-40B4-BE49-F238E27FC236}">
                <a16:creationId xmlns:a16="http://schemas.microsoft.com/office/drawing/2014/main" id="{ADA2FF50-16A0-4C43-459C-3C857525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2080234"/>
            <a:ext cx="7246993" cy="4216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2C7E80"/>
                </a:solidFill>
                <a:latin typeface="Arial"/>
              </a:rPr>
              <a:t>PRODUTIVIDADE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737360"/>
            <a:ext cx="10424160" cy="1818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lang="pt-BR" sz="12000" b="1">
                <a:solidFill>
                  <a:srgbClr val="2C7E80"/>
                </a:solidFill>
                <a:latin typeface="Arial"/>
              </a:rPr>
              <a:t>2x</a:t>
            </a:r>
            <a:r>
              <a:rPr lang="pt-BR" sz="5600" b="1">
                <a:solidFill>
                  <a:srgbClr val="1A1F24"/>
                </a:solidFill>
                <a:latin typeface="Arial"/>
              </a:rPr>
              <a:t> </a:t>
            </a:r>
            <a:r>
              <a:rPr sz="5600" b="1">
                <a:solidFill>
                  <a:srgbClr val="1A1F24"/>
                </a:solidFill>
                <a:latin typeface="Arial"/>
              </a:rPr>
              <a:t>a</a:t>
            </a:r>
            <a:r>
              <a:rPr lang="pt-BR" sz="5600" b="1">
                <a:solidFill>
                  <a:srgbClr val="1A1F24"/>
                </a:solidFill>
                <a:latin typeface="Arial"/>
              </a:rPr>
              <a:t> </a:t>
            </a:r>
            <a:r>
              <a:rPr lang="pt-BR" sz="12000" b="1">
                <a:solidFill>
                  <a:srgbClr val="E3A038"/>
                </a:solidFill>
                <a:latin typeface="Arial"/>
              </a:rPr>
              <a:t>4x</a:t>
            </a:r>
            <a:endParaRPr lang="pt-BR" sz="12000" b="1">
              <a:solidFill>
                <a:srgbClr val="E3A038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A1F24"/>
                </a:solidFill>
                <a:latin typeface="Arial"/>
              </a:rPr>
              <a:t>mais rápido na implementação — dependendo do fluxo de desenvolvimento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4545944"/>
            <a:ext cx="2515092" cy="1322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4536112"/>
            <a:ext cx="2505260" cy="76692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4726760"/>
            <a:ext cx="2049534" cy="1093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err="1">
                <a:solidFill>
                  <a:srgbClr val="2C7E80"/>
                </a:solidFill>
                <a:latin typeface="Arial"/>
              </a:rPr>
              <a:t>Fluxos</a:t>
            </a:r>
            <a:r>
              <a:rPr sz="1450" b="1">
                <a:solidFill>
                  <a:srgbClr val="2C7E80"/>
                </a:solidFill>
                <a:latin typeface="Arial"/>
              </a:rPr>
              <a:t> </a:t>
            </a:r>
            <a:r>
              <a:rPr sz="1450" b="1" err="1">
                <a:solidFill>
                  <a:srgbClr val="2C7E80"/>
                </a:solidFill>
                <a:latin typeface="Arial"/>
              </a:rPr>
              <a:t>repetitivos</a:t>
            </a:r>
            <a:endParaRPr lang="pt-BR" sz="1450" b="1">
              <a:solidFill>
                <a:srgbClr val="2C7E80"/>
              </a:solidFill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200">
                <a:solidFill>
                  <a:srgbClr val="4D5358"/>
                </a:solidFill>
                <a:latin typeface="Arial"/>
                <a:cs typeface="Arial"/>
              </a:rPr>
              <a:t>Setup do projeto </a:t>
            </a:r>
            <a:r>
              <a:rPr lang="pt-BR" sz="1200" b="1" err="1">
                <a:solidFill>
                  <a:srgbClr val="4D5358"/>
                </a:solidFill>
                <a:latin typeface="Arial"/>
                <a:cs typeface="Arial"/>
              </a:rPr>
              <a:t>certificate</a:t>
            </a:r>
            <a:r>
              <a:rPr lang="pt-BR" sz="1200" b="1">
                <a:solidFill>
                  <a:srgbClr val="4D5358"/>
                </a:solidFill>
                <a:latin typeface="Arial"/>
                <a:cs typeface="Arial"/>
              </a:rPr>
              <a:t> </a:t>
            </a:r>
            <a:r>
              <a:rPr lang="pt-BR" sz="1200">
                <a:solidFill>
                  <a:srgbClr val="4D5358"/>
                </a:solidFill>
                <a:latin typeface="Arial"/>
                <a:cs typeface="Arial"/>
              </a:rPr>
              <a:t>foi realizado em 40 minutos, que facilmente levaria 4 a 5 horas.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5894" y="4531196"/>
            <a:ext cx="2436433" cy="1347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80810" y="4526280"/>
            <a:ext cx="2446265" cy="76692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4494" y="4731676"/>
            <a:ext cx="2138024" cy="1093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err="1">
                <a:solidFill>
                  <a:srgbClr val="2C7E80"/>
                </a:solidFill>
                <a:latin typeface="Arial"/>
              </a:rPr>
              <a:t>Fluxos</a:t>
            </a:r>
            <a:r>
              <a:rPr sz="1450" b="1">
                <a:solidFill>
                  <a:srgbClr val="2C7E80"/>
                </a:solidFill>
                <a:latin typeface="Arial"/>
              </a:rPr>
              <a:t> </a:t>
            </a:r>
            <a:r>
              <a:rPr sz="1450" b="1" err="1">
                <a:solidFill>
                  <a:srgbClr val="2C7E80"/>
                </a:solidFill>
                <a:latin typeface="Arial"/>
              </a:rPr>
              <a:t>complexos</a:t>
            </a:r>
            <a:endParaRPr lang="pt-BR" sz="1450" b="1" err="1">
              <a:solidFill>
                <a:srgbClr val="2C7E80"/>
              </a:solidFill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200">
                <a:solidFill>
                  <a:srgbClr val="4D5358"/>
                </a:solidFill>
                <a:latin typeface="Arial"/>
              </a:rPr>
              <a:t>Fluxo pagamento para Icatu, processamento das propostas, fluxo contábil e envio para Icatu, 2x.</a:t>
            </a:r>
            <a:endParaRPr lang="pt-BR" sz="120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32772" y="4501699"/>
            <a:ext cx="2500342" cy="13666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37688" y="4496783"/>
            <a:ext cx="2495427" cy="91440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5953" y="4716927"/>
            <a:ext cx="2147857" cy="1093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C7E80"/>
                </a:solidFill>
                <a:latin typeface="Arial"/>
              </a:rPr>
              <a:t>O </a:t>
            </a:r>
            <a:r>
              <a:rPr sz="1450" b="1" err="1">
                <a:solidFill>
                  <a:srgbClr val="2C7E80"/>
                </a:solidFill>
                <a:latin typeface="Arial"/>
              </a:rPr>
              <a:t>multiplicador</a:t>
            </a:r>
            <a:endParaRPr lang="pt-BR" sz="1450" b="1" err="1">
              <a:solidFill>
                <a:srgbClr val="2C7E80"/>
              </a:solidFill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200" err="1">
                <a:solidFill>
                  <a:srgbClr val="4D5358"/>
                </a:solidFill>
                <a:latin typeface="Arial"/>
              </a:rPr>
              <a:t>Endpoint</a:t>
            </a:r>
            <a:r>
              <a:rPr lang="pt-BR" sz="1200">
                <a:solidFill>
                  <a:srgbClr val="4D5358"/>
                </a:solidFill>
                <a:latin typeface="Arial"/>
              </a:rPr>
              <a:t> sendo criado com testes integrados com um banco real com </a:t>
            </a:r>
            <a:r>
              <a:rPr lang="pt-BR" sz="1200" err="1">
                <a:solidFill>
                  <a:srgbClr val="4D5358"/>
                </a:solidFill>
                <a:latin typeface="Arial"/>
              </a:rPr>
              <a:t>aju</a:t>
            </a:r>
            <a:r>
              <a:rPr lang="pt-BR" sz="1200">
                <a:solidFill>
                  <a:srgbClr val="4D5358"/>
                </a:solidFill>
                <a:latin typeface="Arial"/>
              </a:rPr>
              <a:t>da de Skills 4x mais rápido.</a:t>
            </a:r>
            <a:endParaRPr lang="pt-BR" sz="120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882B11FA-EBD8-FD29-410F-D4FFD68F7854}"/>
              </a:ext>
            </a:extLst>
          </p:cNvPr>
          <p:cNvSpPr/>
          <p:nvPr/>
        </p:nvSpPr>
        <p:spPr>
          <a:xfrm>
            <a:off x="8748152" y="4496782"/>
            <a:ext cx="2524923" cy="13666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22A4A42-3244-BB95-7F88-D380F53CB508}"/>
              </a:ext>
            </a:extLst>
          </p:cNvPr>
          <p:cNvSpPr/>
          <p:nvPr/>
        </p:nvSpPr>
        <p:spPr>
          <a:xfrm>
            <a:off x="8743236" y="4491866"/>
            <a:ext cx="2520008" cy="914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E72E5B30-BB0E-78E2-212A-1D28F1CC9E06}"/>
              </a:ext>
            </a:extLst>
          </p:cNvPr>
          <p:cNvSpPr txBox="1"/>
          <p:nvPr/>
        </p:nvSpPr>
        <p:spPr>
          <a:xfrm>
            <a:off x="8971836" y="4712010"/>
            <a:ext cx="2103612" cy="1042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450" b="1">
                <a:solidFill>
                  <a:srgbClr val="2C7E80"/>
                </a:solidFill>
                <a:latin typeface="Arial"/>
              </a:rPr>
              <a:t>Onde melhorar </a:t>
            </a:r>
            <a:r>
              <a:rPr lang="pt-BR" sz="1200">
                <a:solidFill>
                  <a:srgbClr val="4D5358"/>
                </a:solidFill>
                <a:latin typeface="Arial"/>
                <a:cs typeface="Arial"/>
              </a:rPr>
              <a:t>Planejamento mais maduro nos requisitos funcionais. Refinamento de negócio e testes regressivos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7E80"/>
                </a:solidFill>
                <a:latin typeface="Arial"/>
              </a:rPr>
              <a:t>GRANULARIDADE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O tamanho certo da task importa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737360"/>
            <a:ext cx="5029200" cy="27889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737360"/>
            <a:ext cx="5029200" cy="10972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36D6E"/>
                </a:solidFill>
                <a:latin typeface="Arial"/>
              </a:rPr>
              <a:t>Atrapalha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✕  Task granular demais perde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✕  Muitos devs no mesmo fluxo geram conflito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✕  Retrabalho e idas e voltas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✕  Testes difíceis de montar sem visão do todo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029200" cy="27889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5029200" cy="109728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EB74F"/>
                </a:solidFill>
                <a:latin typeface="Arial"/>
              </a:rPr>
              <a:t>Acelera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457200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✓  </a:t>
            </a:r>
            <a:r>
              <a:rPr sz="1300" b="0" err="1">
                <a:solidFill>
                  <a:srgbClr val="1A1F24"/>
                </a:solidFill>
                <a:latin typeface="Arial"/>
              </a:rPr>
              <a:t>Jiracard</a:t>
            </a:r>
            <a:r>
              <a:rPr sz="1300" b="0">
                <a:solidFill>
                  <a:srgbClr val="1A1F24"/>
                </a:solidFill>
                <a:latin typeface="Arial"/>
              </a:rPr>
              <a:t> completo</a:t>
            </a:r>
            <a:r>
              <a:rPr lang="pt-BR" sz="1300">
                <a:solidFill>
                  <a:srgbClr val="1A1F24"/>
                </a:solidFill>
                <a:latin typeface="Arial"/>
              </a:rPr>
              <a:t> e regras de negócio claras</a:t>
            </a:r>
            <a:endParaRPr lang="pt-BR" sz="1300" b="0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457200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✓ </a:t>
            </a:r>
            <a:r>
              <a:rPr lang="pt-BR" sz="1300">
                <a:solidFill>
                  <a:srgbClr val="1A1F24"/>
                </a:solidFill>
                <a:latin typeface="Arial"/>
              </a:rPr>
              <a:t> Requisitos funcionais bem especificados</a:t>
            </a:r>
            <a:endParaRPr sz="1300" b="0">
              <a:solidFill>
                <a:srgbClr val="1A1F24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457200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✓ </a:t>
            </a:r>
            <a:r>
              <a:rPr lang="en-US" sz="1300">
                <a:solidFill>
                  <a:srgbClr val="1A1F24"/>
                </a:solidFill>
                <a:latin typeface="Arial"/>
              </a:rPr>
              <a:t> Testes specs é </a:t>
            </a:r>
            <a:r>
              <a:rPr lang="en-US" sz="1300" err="1">
                <a:solidFill>
                  <a:srgbClr val="1A1F24"/>
                </a:solidFill>
                <a:latin typeface="Arial"/>
              </a:rPr>
              <a:t>passagem</a:t>
            </a:r>
            <a:r>
              <a:rPr lang="en-US" sz="1300">
                <a:solidFill>
                  <a:srgbClr val="1A1F24"/>
                </a:solidFill>
                <a:latin typeface="Arial"/>
              </a:rPr>
              <a:t> de </a:t>
            </a:r>
            <a:r>
              <a:rPr lang="en-US" sz="1300" err="1">
                <a:solidFill>
                  <a:srgbClr val="1A1F24"/>
                </a:solidFill>
                <a:latin typeface="Arial"/>
              </a:rPr>
              <a:t>bastão</a:t>
            </a:r>
            <a:r>
              <a:rPr lang="en-US" sz="1300">
                <a:solidFill>
                  <a:srgbClr val="1A1F24"/>
                </a:solidFill>
                <a:latin typeface="Arial"/>
              </a:rPr>
              <a:t> entre o DEV e QA</a:t>
            </a:r>
            <a:endParaRPr lang="en-US" sz="1300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457200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✓ </a:t>
            </a:r>
            <a:r>
              <a:rPr lang="pt-BR" sz="1300">
                <a:solidFill>
                  <a:srgbClr val="1A1F24"/>
                </a:solidFill>
                <a:latin typeface="Arial"/>
              </a:rPr>
              <a:t> AI </a:t>
            </a:r>
            <a:r>
              <a:rPr lang="pt-BR" sz="1300" err="1">
                <a:solidFill>
                  <a:srgbClr val="1A1F24"/>
                </a:solidFill>
                <a:latin typeface="Arial"/>
              </a:rPr>
              <a:t>First</a:t>
            </a:r>
            <a:r>
              <a:rPr lang="pt-BR" sz="1300">
                <a:solidFill>
                  <a:srgbClr val="1A1F24"/>
                </a:solidFill>
                <a:latin typeface="Arial"/>
              </a:rPr>
              <a:t> – IA implementa o código</a:t>
            </a:r>
            <a:endParaRPr sz="1300" b="0" err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800600"/>
            <a:ext cx="10378440" cy="1097280"/>
          </a:xfrm>
          <a:prstGeom prst="round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Conclusão: </a:t>
            </a:r>
            <a:r>
              <a:rPr sz="1500" b="0">
                <a:solidFill>
                  <a:srgbClr val="1A1F24"/>
                </a:solidFill>
                <a:latin typeface="Arial"/>
              </a:rPr>
              <a:t>card bem contextualizado é o combustível da IA. Mais contexto = mais velocidade e mais testabilidade.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Aprendizados e pontos de atenção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3A038"/>
                </a:solidFill>
                <a:latin typeface="Arial"/>
              </a:rPr>
              <a:t>APRENDIZADOS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latin typeface="Arial"/>
              </a:rPr>
              <a:t>Pontos</a:t>
            </a:r>
            <a:r>
              <a:rPr sz="2800" b="1">
                <a:solidFill>
                  <a:srgbClr val="1A1F24"/>
                </a:solidFill>
                <a:latin typeface="Arial"/>
              </a:rPr>
              <a:t> de atenção </a:t>
            </a:r>
            <a:endParaRPr lang="pt-BR" sz="2800" b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6112" y="1691640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691640"/>
            <a:ext cx="109728" cy="1234440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2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C7E8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837944"/>
            <a:ext cx="3520440" cy="624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O </a:t>
            </a:r>
            <a:r>
              <a:rPr sz="1500" b="1" err="1">
                <a:solidFill>
                  <a:srgbClr val="1A1F24"/>
                </a:solidFill>
                <a:latin typeface="Arial"/>
              </a:rPr>
              <a:t>ganho</a:t>
            </a:r>
            <a:r>
              <a:rPr sz="1500" b="1">
                <a:solidFill>
                  <a:srgbClr val="1A1F24"/>
                </a:solidFill>
                <a:latin typeface="Arial"/>
              </a:rPr>
              <a:t> varia </a:t>
            </a:r>
            <a:r>
              <a:rPr sz="1500" b="1" err="1">
                <a:solidFill>
                  <a:srgbClr val="1A1F24"/>
                </a:solidFill>
                <a:latin typeface="Arial"/>
              </a:rPr>
              <a:t>por</a:t>
            </a:r>
            <a:r>
              <a:rPr sz="1500" b="1">
                <a:solidFill>
                  <a:srgbClr val="1A1F24"/>
                </a:solidFill>
                <a:latin typeface="Arial"/>
              </a:rPr>
              <a:t> </a:t>
            </a:r>
            <a:r>
              <a:rPr sz="1500" b="1" err="1">
                <a:solidFill>
                  <a:srgbClr val="1A1F24"/>
                </a:solidFill>
                <a:latin typeface="Arial"/>
              </a:rPr>
              <a:t>fluxo</a:t>
            </a:r>
            <a:endParaRPr lang="pt-BR" sz="1500" b="1" err="1">
              <a:solidFill>
                <a:srgbClr val="1A1F24"/>
              </a:solidFill>
              <a:latin typeface="Arial"/>
              <a:cs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D5358"/>
                </a:solidFill>
                <a:latin typeface="Arial"/>
              </a:rPr>
              <a:t>Entre </a:t>
            </a:r>
            <a:r>
              <a:rPr lang="pt-BR" sz="1100">
                <a:solidFill>
                  <a:srgbClr val="4D5358"/>
                </a:solidFill>
                <a:latin typeface="Arial"/>
              </a:rPr>
              <a:t>2x</a:t>
            </a:r>
            <a:r>
              <a:rPr sz="1100" b="0">
                <a:solidFill>
                  <a:srgbClr val="4D5358"/>
                </a:solidFill>
                <a:latin typeface="Arial"/>
              </a:rPr>
              <a:t> e </a:t>
            </a:r>
            <a:r>
              <a:rPr lang="pt-BR" sz="1100">
                <a:solidFill>
                  <a:srgbClr val="4D5358"/>
                </a:solidFill>
                <a:latin typeface="Arial"/>
              </a:rPr>
              <a:t>4x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mais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rápido</a:t>
            </a:r>
            <a:r>
              <a:rPr sz="1100" b="0">
                <a:solidFill>
                  <a:srgbClr val="4D5358"/>
                </a:solidFill>
                <a:latin typeface="Arial"/>
              </a:rPr>
              <a:t> —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depende</a:t>
            </a:r>
            <a:r>
              <a:rPr sz="1100" b="0">
                <a:solidFill>
                  <a:srgbClr val="4D5358"/>
                </a:solidFill>
                <a:latin typeface="Arial"/>
              </a:rPr>
              <a:t> da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natureza</a:t>
            </a:r>
            <a:r>
              <a:rPr sz="1100" b="0">
                <a:solidFill>
                  <a:srgbClr val="4D5358"/>
                </a:solidFill>
                <a:latin typeface="Arial"/>
              </a:rPr>
              <a:t> do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código</a:t>
            </a:r>
            <a:r>
              <a:rPr sz="1100" b="0">
                <a:solidFill>
                  <a:srgbClr val="4D5358"/>
                </a:solidFill>
                <a:latin typeface="Arial"/>
              </a:rPr>
              <a:t>.</a:t>
            </a:r>
            <a:endParaRPr sz="110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6112" y="3108960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3108960"/>
            <a:ext cx="109728" cy="1234440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" y="32918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C7E8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3255264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A1F24"/>
                </a:solidFill>
                <a:latin typeface="Arial"/>
              </a:rPr>
              <a:t>Qualidade no centro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D5358"/>
                </a:solidFill>
                <a:latin typeface="Arial"/>
              </a:rPr>
              <a:t>Testes integrados com Testcontainers e Flyway são inegociáveis.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526280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526280"/>
            <a:ext cx="109728" cy="1234440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47091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C7E8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4672584"/>
            <a:ext cx="3520440" cy="624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500" b="1" err="1">
                <a:solidFill>
                  <a:srgbClr val="1A1F24"/>
                </a:solidFill>
                <a:latin typeface="Arial"/>
              </a:rPr>
              <a:t>Pull</a:t>
            </a:r>
            <a:r>
              <a:rPr lang="pt-BR" sz="1500" b="1">
                <a:solidFill>
                  <a:srgbClr val="1A1F24"/>
                </a:solidFill>
                <a:latin typeface="Arial"/>
              </a:rPr>
              <a:t> </a:t>
            </a:r>
            <a:r>
              <a:rPr lang="pt-BR" sz="1500" b="1" err="1">
                <a:solidFill>
                  <a:srgbClr val="1A1F24"/>
                </a:solidFill>
                <a:latin typeface="Arial"/>
              </a:rPr>
              <a:t>Requests</a:t>
            </a:r>
            <a:r>
              <a:rPr lang="pt-BR" sz="1500" b="1">
                <a:solidFill>
                  <a:srgbClr val="1A1F24"/>
                </a:solidFill>
                <a:latin typeface="Arial"/>
              </a:rPr>
              <a:t> - Testes</a:t>
            </a:r>
            <a:endParaRPr sz="1500" b="1">
              <a:solidFill>
                <a:srgbClr val="1A1F24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4D5358"/>
                </a:solidFill>
                <a:latin typeface="Arial"/>
              </a:rPr>
              <a:t>Muita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mudança</a:t>
            </a:r>
            <a:r>
              <a:rPr sz="1100" b="0">
                <a:solidFill>
                  <a:srgbClr val="4D5358"/>
                </a:solidFill>
                <a:latin typeface="Arial"/>
              </a:rPr>
              <a:t> para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revisar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100">
                <a:solidFill>
                  <a:srgbClr val="4D5358"/>
                </a:solidFill>
                <a:latin typeface="Arial"/>
              </a:rPr>
              <a:t>— "Em análise o quanto precisamos ter controle sobre o código gerado".</a:t>
            </a:r>
            <a:endParaRPr sz="110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691640"/>
            <a:ext cx="109728" cy="1234440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C7E80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783866"/>
            <a:ext cx="3520440" cy="105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500" b="1">
                <a:solidFill>
                  <a:srgbClr val="1A1F24"/>
                </a:solidFill>
                <a:latin typeface="Arial"/>
              </a:rPr>
              <a:t>Economia de Tokens</a:t>
            </a:r>
            <a:endParaRPr lang="pt-BR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100">
                <a:solidFill>
                  <a:srgbClr val="4D5358"/>
                </a:solidFill>
                <a:latin typeface="Arial"/>
                <a:cs typeface="Arial"/>
              </a:rPr>
              <a:t>Rodar testes e builds manuais.</a:t>
            </a:r>
            <a:endParaRPr lang="pt-BR" sz="1100">
              <a:solidFill>
                <a:srgbClr val="4D5358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100">
                <a:solidFill>
                  <a:srgbClr val="4D5358"/>
                </a:solidFill>
                <a:latin typeface="Arial"/>
              </a:rPr>
              <a:t>Direcionar</a:t>
            </a:r>
            <a:r>
              <a:rPr sz="1100" b="0">
                <a:solidFill>
                  <a:srgbClr val="4D5358"/>
                </a:solidFill>
                <a:latin typeface="Arial"/>
              </a:rPr>
              <a:t> a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correção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economiza</a:t>
            </a:r>
            <a:r>
              <a:rPr sz="1100" b="0">
                <a:solidFill>
                  <a:srgbClr val="4D5358"/>
                </a:solidFill>
                <a:latin typeface="Arial"/>
              </a:rPr>
              <a:t> tokens e tempo.</a:t>
            </a:r>
            <a:endParaRPr lang="pt-BR" sz="1100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100">
                <a:solidFill>
                  <a:srgbClr val="4D5358"/>
                </a:solidFill>
                <a:latin typeface="Arial"/>
                <a:cs typeface="Arial"/>
              </a:rPr>
              <a:t>Especificar com </a:t>
            </a:r>
            <a:r>
              <a:rPr lang="pt-BR" sz="1100" err="1">
                <a:solidFill>
                  <a:srgbClr val="4D5358"/>
                </a:solidFill>
                <a:latin typeface="Arial"/>
                <a:cs typeface="Arial"/>
              </a:rPr>
              <a:t>Copilot</a:t>
            </a:r>
            <a:r>
              <a:rPr lang="pt-BR" sz="1100">
                <a:solidFill>
                  <a:srgbClr val="4D5358"/>
                </a:solidFill>
                <a:latin typeface="Arial"/>
                <a:cs typeface="Arial"/>
              </a:rPr>
              <a:t>/Claude </a:t>
            </a:r>
            <a:r>
              <a:rPr lang="en-US" sz="1100">
                <a:solidFill>
                  <a:srgbClr val="4D5358"/>
                </a:solidFill>
                <a:latin typeface="Arial"/>
                <a:cs typeface="Arial"/>
              </a:rPr>
              <a:t>—</a:t>
            </a:r>
            <a:r>
              <a:rPr lang="pt-BR" sz="1100">
                <a:solidFill>
                  <a:srgbClr val="4D5358"/>
                </a:solidFill>
                <a:latin typeface="Arial"/>
                <a:cs typeface="Arial"/>
              </a:rPr>
              <a:t> Implementar e rodar testes com Kiro.</a:t>
            </a:r>
            <a:endParaRPr lang="pt-BR"/>
          </a:p>
        </p:txBody>
      </p:sp>
      <p:sp>
        <p:nvSpPr>
          <p:cNvPr id="21" name="Rounded Rectangle 20"/>
          <p:cNvSpPr/>
          <p:nvPr/>
        </p:nvSpPr>
        <p:spPr>
          <a:xfrm>
            <a:off x="6355080" y="3108960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108960"/>
            <a:ext cx="109728" cy="1234440"/>
          </a:xfrm>
          <a:prstGeom prst="rect">
            <a:avLst/>
          </a:prstGeom>
          <a:solidFill>
            <a:srgbClr val="D3E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2918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C7E80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3255264"/>
            <a:ext cx="3520440" cy="624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err="1">
                <a:solidFill>
                  <a:srgbClr val="1A1F24"/>
                </a:solidFill>
                <a:latin typeface="Arial"/>
              </a:rPr>
              <a:t>Granularidade</a:t>
            </a:r>
            <a:r>
              <a:rPr sz="1500" b="1">
                <a:solidFill>
                  <a:srgbClr val="1A1F24"/>
                </a:solidFill>
                <a:latin typeface="Arial"/>
              </a:rPr>
              <a:t> da task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D5358"/>
                </a:solidFill>
                <a:latin typeface="Arial"/>
              </a:rPr>
              <a:t>Card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pequeno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demais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ou</a:t>
            </a:r>
            <a:r>
              <a:rPr sz="1100" b="0">
                <a:solidFill>
                  <a:srgbClr val="4D5358"/>
                </a:solidFill>
                <a:latin typeface="Arial"/>
              </a:rPr>
              <a:t> com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vários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devs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atrapalha</a:t>
            </a:r>
            <a:r>
              <a:rPr sz="1100" b="0">
                <a:solidFill>
                  <a:srgbClr val="4D5358"/>
                </a:solidFill>
                <a:latin typeface="Arial"/>
              </a:rPr>
              <a:t>.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Jiracard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rico</a:t>
            </a:r>
            <a:r>
              <a:rPr sz="1100" b="0">
                <a:solidFill>
                  <a:srgbClr val="4D5358"/>
                </a:solidFill>
                <a:latin typeface="Arial"/>
              </a:rPr>
              <a:t> </a:t>
            </a:r>
            <a:r>
              <a:rPr sz="1100" b="0" err="1">
                <a:solidFill>
                  <a:srgbClr val="4D5358"/>
                </a:solidFill>
                <a:latin typeface="Arial"/>
              </a:rPr>
              <a:t>acelera</a:t>
            </a:r>
            <a:r>
              <a:rPr sz="1100" b="0">
                <a:solidFill>
                  <a:srgbClr val="4D5358"/>
                </a:solidFill>
                <a:latin typeface="Arial"/>
              </a:rPr>
              <a:t>.</a:t>
            </a:r>
            <a:endParaRPr sz="110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Aprendizados e pontos de atenção</a:t>
            </a: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10A741E6-C9AA-681B-9207-6CC1FB8E35E6}"/>
              </a:ext>
            </a:extLst>
          </p:cNvPr>
          <p:cNvSpPr/>
          <p:nvPr/>
        </p:nvSpPr>
        <p:spPr>
          <a:xfrm>
            <a:off x="6345247" y="4544469"/>
            <a:ext cx="5029200" cy="12344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C68804A1-C099-F27D-AE7E-752F9538BB7C}"/>
              </a:ext>
            </a:extLst>
          </p:cNvPr>
          <p:cNvSpPr/>
          <p:nvPr/>
        </p:nvSpPr>
        <p:spPr>
          <a:xfrm>
            <a:off x="6345247" y="4544469"/>
            <a:ext cx="109728" cy="123444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>
              <a:solidFill>
                <a:srgbClr val="B83738"/>
              </a:solidFill>
              <a:highlight>
                <a:srgbClr val="FF0000"/>
              </a:highlight>
              <a:cs typeface="Arial"/>
            </a:endParaRP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11AF6130-1504-6469-92FB-0154770ADF29}"/>
              </a:ext>
            </a:extLst>
          </p:cNvPr>
          <p:cNvSpPr txBox="1"/>
          <p:nvPr/>
        </p:nvSpPr>
        <p:spPr>
          <a:xfrm>
            <a:off x="6665287" y="4727349"/>
            <a:ext cx="914400" cy="394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2600" b="1">
                <a:solidFill>
                  <a:srgbClr val="2C7E80"/>
                </a:solidFill>
                <a:latin typeface="Arial"/>
              </a:rPr>
              <a:t>06</a:t>
            </a:r>
            <a:endParaRPr sz="2600" b="1">
              <a:solidFill>
                <a:srgbClr val="2C7E80"/>
              </a:solidFill>
              <a:latin typeface="Arial"/>
            </a:endParaRP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47265D0A-CB5E-1CCB-6FB1-ACCF4AD845C6}"/>
              </a:ext>
            </a:extLst>
          </p:cNvPr>
          <p:cNvSpPr txBox="1"/>
          <p:nvPr/>
        </p:nvSpPr>
        <p:spPr>
          <a:xfrm>
            <a:off x="7716847" y="4690773"/>
            <a:ext cx="3520440" cy="624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500" b="1">
                <a:solidFill>
                  <a:srgbClr val="1A1F24"/>
                </a:solidFill>
                <a:latin typeface="Arial"/>
                <a:cs typeface="Arial"/>
              </a:rPr>
              <a:t>Código manual</a:t>
            </a:r>
            <a:endParaRPr lang="pt-BR" sz="1100">
              <a:solidFill>
                <a:srgbClr val="4D5358"/>
              </a:solidFill>
              <a:latin typeface="Arial"/>
              <a:cs typeface="Arial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pt-BR" sz="1100">
                <a:solidFill>
                  <a:srgbClr val="4D5358"/>
                </a:solidFill>
                <a:latin typeface="Arial"/>
                <a:cs typeface="Arial"/>
              </a:rPr>
              <a:t>Arquitetura e código precisam estar preparados para ser continuados de forma manual. Acabou o token, E aí?! </a:t>
            </a:r>
            <a:endParaRPr lang="pt-BR" sz="1100">
              <a:solidFill>
                <a:srgbClr val="4D5358"/>
              </a:solidFill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Próximos passos... Evolução dos Testes</a:t>
            </a:r>
            <a:endParaRPr sz="1500" b="1">
              <a:solidFill>
                <a:srgbClr val="E3A038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1A1F24"/>
                </a:solidFill>
                <a:latin typeface="Arial"/>
              </a:rPr>
              <a:t>Code review e </a:t>
            </a:r>
            <a:r>
              <a:rPr lang="pt-BR" sz="2800" b="1" err="1">
                <a:solidFill>
                  <a:srgbClr val="1A1F24"/>
                </a:solidFill>
                <a:latin typeface="Arial"/>
              </a:rPr>
              <a:t>Spec-Driven</a:t>
            </a:r>
            <a:r>
              <a:rPr lang="pt-BR" sz="2800" b="1">
                <a:solidFill>
                  <a:srgbClr val="1A1F24"/>
                </a:solidFill>
                <a:latin typeface="Arial"/>
              </a:rPr>
              <a:t> nos Testes </a:t>
            </a:r>
            <a:r>
              <a:rPr lang="pt-BR" sz="2800" b="1" err="1">
                <a:solidFill>
                  <a:srgbClr val="1A1F24"/>
                </a:solidFill>
                <a:latin typeface="Arial"/>
              </a:rPr>
              <a:t>End-to-End</a:t>
            </a:r>
            <a:endParaRPr sz="2800" b="1" err="1">
              <a:solidFill>
                <a:srgbClr val="1A1F24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6112" y="1691640"/>
            <a:ext cx="5029200" cy="420624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691640"/>
            <a:ext cx="5029200" cy="10972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A1F24"/>
                </a:solidFill>
                <a:latin typeface="Arial"/>
              </a:rPr>
              <a:t>Volume de changes no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480560" cy="44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D5358"/>
                </a:solidFill>
                <a:latin typeface="Arial"/>
              </a:rPr>
              <a:t>Muita feature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gerada</a:t>
            </a:r>
            <a:r>
              <a:rPr sz="1300" b="0">
                <a:solidFill>
                  <a:srgbClr val="4D5358"/>
                </a:solidFill>
                <a:latin typeface="Arial"/>
              </a:rPr>
              <a:t> =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muita</a:t>
            </a:r>
            <a:r>
              <a:rPr sz="1300" b="0">
                <a:solidFill>
                  <a:srgbClr val="4D5358"/>
                </a:solidFill>
                <a:latin typeface="Arial"/>
              </a:rPr>
              <a:t>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mudança</a:t>
            </a:r>
            <a:r>
              <a:rPr sz="1300" b="0">
                <a:solidFill>
                  <a:srgbClr val="4D5358"/>
                </a:solidFill>
                <a:latin typeface="Arial"/>
              </a:rPr>
              <a:t> para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revisar</a:t>
            </a:r>
            <a:r>
              <a:rPr sz="1300" b="0">
                <a:solidFill>
                  <a:srgbClr val="4D5358"/>
                </a:solidFill>
                <a:latin typeface="Arial"/>
              </a:rPr>
              <a:t>. O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gargalo</a:t>
            </a:r>
            <a:r>
              <a:rPr sz="1300" b="0">
                <a:solidFill>
                  <a:srgbClr val="4D5358"/>
                </a:solidFill>
                <a:latin typeface="Arial"/>
              </a:rPr>
              <a:t> </a:t>
            </a:r>
            <a:r>
              <a:rPr sz="1300" b="0" err="1">
                <a:solidFill>
                  <a:srgbClr val="4D5358"/>
                </a:solidFill>
                <a:latin typeface="Arial"/>
              </a:rPr>
              <a:t>migra</a:t>
            </a:r>
            <a:r>
              <a:rPr sz="1300" b="0">
                <a:solidFill>
                  <a:srgbClr val="4D5358"/>
                </a:solidFill>
                <a:latin typeface="Arial"/>
              </a:rPr>
              <a:t> para o code review</a:t>
            </a:r>
            <a:r>
              <a:rPr lang="pt-BR" sz="1300">
                <a:solidFill>
                  <a:srgbClr val="4D5358"/>
                </a:solidFill>
                <a:latin typeface="Arial"/>
              </a:rPr>
              <a:t> e testes em QA.</a:t>
            </a:r>
            <a:endParaRPr sz="1300" b="0">
              <a:solidFill>
                <a:srgbClr val="4D5358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88720" y="3121250"/>
            <a:ext cx="2313432" cy="310896"/>
          </a:xfrm>
          <a:prstGeom prst="round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1A1F24"/>
                </a:solidFill>
                <a:latin typeface="Arial"/>
              </a:rPr>
              <a:t>EXPERIMENTO  ·  TestSpec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430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•  Framework TestSpec em avaliação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127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•  Reduzir o esforço de testes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1595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•  Cobrir cenários com menos código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7177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•  Acelerar a validação antes do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Aprendizados e pontos de atenção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8C1CEB3-AC38-CFDA-5D3F-8AE74EE9F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034" y="1715729"/>
            <a:ext cx="5025506" cy="4449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7E80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latin typeface="Arial"/>
              </a:rPr>
              <a:t>Próximos passos...</a:t>
            </a:r>
            <a:endParaRPr lang="pt-BR"/>
          </a:p>
        </p:txBody>
      </p:sp>
      <p:sp>
        <p:nvSpPr>
          <p:cNvPr id="5" name="Rounded Rectangle 4"/>
          <p:cNvSpPr/>
          <p:nvPr/>
        </p:nvSpPr>
        <p:spPr>
          <a:xfrm>
            <a:off x="896112" y="1737360"/>
            <a:ext cx="694944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737360"/>
            <a:ext cx="109728" cy="731520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03861"/>
            <a:ext cx="6492240" cy="425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450" b="1">
                <a:solidFill>
                  <a:srgbClr val="1A1F24"/>
                </a:solidFill>
                <a:latin typeface="Arial"/>
              </a:rPr>
              <a:t> Mudança de mentalidade ao refinar negócios </a:t>
            </a:r>
            <a:r>
              <a:rPr sz="1450" b="1">
                <a:solidFill>
                  <a:srgbClr val="1A1F24"/>
                </a:solidFill>
                <a:latin typeface="Arial"/>
              </a:rPr>
              <a:t>—  </a:t>
            </a:r>
            <a:r>
              <a:rPr sz="1250" b="0">
                <a:solidFill>
                  <a:srgbClr val="4D5358"/>
                </a:solidFill>
                <a:latin typeface="Arial"/>
              </a:rPr>
              <a:t>Usar o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PO.Agent</a:t>
            </a:r>
            <a:r>
              <a:rPr sz="1250" b="0">
                <a:solidFill>
                  <a:srgbClr val="4D5358"/>
                </a:solidFill>
                <a:latin typeface="Arial"/>
              </a:rPr>
              <a:t> para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refinar</a:t>
            </a:r>
            <a:r>
              <a:rPr sz="1250" b="0">
                <a:solidFill>
                  <a:srgbClr val="4D5358"/>
                </a:solidFill>
                <a:latin typeface="Arial"/>
              </a:rPr>
              <a:t> o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Jiracard</a:t>
            </a:r>
            <a:r>
              <a:rPr sz="1250" b="0">
                <a:solidFill>
                  <a:srgbClr val="4D5358"/>
                </a:solidFill>
                <a:latin typeface="Arial"/>
              </a:rPr>
              <a:t> (Product Owner).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578608"/>
            <a:ext cx="694944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578608"/>
            <a:ext cx="109728" cy="731520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48182"/>
            <a:ext cx="6492240" cy="2198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1A1F24"/>
                </a:solidFill>
                <a:latin typeface="Arial"/>
              </a:rPr>
              <a:t>Tesouro 24/7  —  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Em andamento seguindo o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modelo</a:t>
            </a:r>
            <a:r>
              <a:rPr sz="1250" b="0">
                <a:solidFill>
                  <a:srgbClr val="4D5358"/>
                </a:solidFill>
                <a:latin typeface="Arial"/>
              </a:rPr>
              <a:t> de previdência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.</a:t>
            </a:r>
            <a:endParaRPr lang="pt-BR" sz="125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" y="3419856"/>
            <a:ext cx="694944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6112" y="3419856"/>
            <a:ext cx="109728" cy="731520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586357"/>
            <a:ext cx="6492240" cy="425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 err="1">
                <a:solidFill>
                  <a:srgbClr val="1A1F24"/>
                </a:solidFill>
                <a:latin typeface="Arial"/>
              </a:rPr>
              <a:t>Migração</a:t>
            </a:r>
            <a:r>
              <a:rPr lang="pt-BR" sz="1450" b="1">
                <a:solidFill>
                  <a:srgbClr val="1A1F24"/>
                </a:solidFill>
                <a:latin typeface="Arial"/>
              </a:rPr>
              <a:t> serviços existentes </a:t>
            </a:r>
            <a:r>
              <a:rPr sz="1450" b="1">
                <a:solidFill>
                  <a:srgbClr val="1A1F24"/>
                </a:solidFill>
                <a:latin typeface="Arial"/>
              </a:rPr>
              <a:t>com Agents &amp; Skills  — 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Já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testado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em</a:t>
            </a:r>
            <a:r>
              <a:rPr sz="1250" b="0">
                <a:solidFill>
                  <a:srgbClr val="4D5358"/>
                </a:solidFill>
                <a:latin typeface="Arial"/>
              </a:rPr>
              <a:t> CDB (Rapa-Conta e CDB Position).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261104"/>
            <a:ext cx="6949440" cy="7315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" y="4261104"/>
            <a:ext cx="109728" cy="731520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343400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1F24"/>
                </a:solidFill>
                <a:latin typeface="Arial"/>
              </a:rPr>
              <a:t>TestSpec end-to-end  —  </a:t>
            </a:r>
            <a:r>
              <a:rPr sz="1250" b="0">
                <a:solidFill>
                  <a:srgbClr val="4D5358"/>
                </a:solidFill>
                <a:latin typeface="Arial"/>
              </a:rPr>
              <a:t>Consolidar o TestSpec nos testes end-to-end (“SDT”).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200400" cy="3200400"/>
          </a:xfrm>
          <a:prstGeom prst="round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2697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A1F24"/>
                </a:solidFill>
                <a:latin typeface="Arial"/>
              </a:rPr>
              <a:t>A fórmula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F24"/>
                </a:solidFill>
                <a:latin typeface="Arial"/>
              </a:rPr>
              <a:t>Specs claras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F24"/>
                </a:solidFill>
                <a:latin typeface="Arial"/>
              </a:rPr>
              <a:t>+ Skills padronizadas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A1F24"/>
                </a:solidFill>
                <a:latin typeface="Arial"/>
              </a:rPr>
              <a:t>+ TDD integrado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A1F24"/>
                </a:solidFill>
                <a:latin typeface="Arial"/>
              </a:rPr>
              <a:t>________________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C7E80"/>
                </a:solidFill>
                <a:latin typeface="Arial"/>
              </a:rPr>
              <a:t>= velocidade com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C7E80"/>
                </a:solidFill>
                <a:latin typeface="Arial"/>
              </a:rPr>
              <a:t>  confiança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212080"/>
            <a:ext cx="10424160" cy="257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 b="1" err="1">
                <a:solidFill>
                  <a:srgbClr val="1A1F24"/>
                </a:solidFill>
                <a:latin typeface="Arial"/>
              </a:rPr>
              <a:t>Próximo</a:t>
            </a:r>
            <a:r>
              <a:rPr sz="1700" b="1">
                <a:solidFill>
                  <a:srgbClr val="1A1F24"/>
                </a:solidFill>
                <a:latin typeface="Arial"/>
              </a:rPr>
              <a:t>:  </a:t>
            </a:r>
            <a:r>
              <a:rPr sz="1500" b="0" err="1">
                <a:solidFill>
                  <a:srgbClr val="4D5358"/>
                </a:solidFill>
                <a:latin typeface="Arial"/>
              </a:rPr>
              <a:t>escalar</a:t>
            </a:r>
            <a:r>
              <a:rPr sz="1500" b="0">
                <a:solidFill>
                  <a:srgbClr val="4D5358"/>
                </a:solidFill>
                <a:latin typeface="Arial"/>
              </a:rPr>
              <a:t> o </a:t>
            </a:r>
            <a:r>
              <a:rPr sz="1500" b="0" err="1">
                <a:solidFill>
                  <a:srgbClr val="4D5358"/>
                </a:solidFill>
                <a:latin typeface="Arial"/>
              </a:rPr>
              <a:t>modelo</a:t>
            </a:r>
            <a:r>
              <a:rPr sz="1500" b="0">
                <a:solidFill>
                  <a:srgbClr val="4D5358"/>
                </a:solidFill>
                <a:latin typeface="Arial"/>
              </a:rPr>
              <a:t> para </a:t>
            </a:r>
            <a:r>
              <a:rPr lang="pt-BR" sz="1500">
                <a:solidFill>
                  <a:srgbClr val="4D5358"/>
                </a:solidFill>
                <a:latin typeface="Arial"/>
              </a:rPr>
              <a:t>outros produtos e serviços legado </a:t>
            </a:r>
            <a:r>
              <a:rPr sz="1500" b="0">
                <a:solidFill>
                  <a:srgbClr val="4D5358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Próximos passos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3A038"/>
                </a:solidFill>
                <a:latin typeface="Arial"/>
              </a:rPr>
              <a:t>EXPERIMENTOS &amp; DECISÕES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 err="1">
                <a:solidFill>
                  <a:srgbClr val="1A1F24"/>
                </a:solidFill>
                <a:latin typeface="Arial"/>
              </a:rPr>
              <a:t>POCs</a:t>
            </a:r>
            <a:endParaRPr lang="pt-BR" sz="2800" b="1" err="1">
              <a:solidFill>
                <a:srgbClr val="1A1F24"/>
              </a:solidFill>
              <a:latin typeface="Arial"/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76447" y="1969892"/>
            <a:ext cx="5029200" cy="1724578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6447" y="1945312"/>
            <a:ext cx="5029200" cy="109728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7528" y="211147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OpenSpec vs Speckit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528" y="2454229"/>
            <a:ext cx="4775527" cy="11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err="1">
                <a:solidFill>
                  <a:srgbClr val="4D5358"/>
                </a:solidFill>
                <a:latin typeface="Arial"/>
              </a:rPr>
              <a:t>Escolhemos</a:t>
            </a:r>
            <a:r>
              <a:rPr sz="1250" b="0">
                <a:solidFill>
                  <a:srgbClr val="4D5358"/>
                </a:solidFill>
                <a:latin typeface="Arial"/>
              </a:rPr>
              <a:t> o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OpenSpec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após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comparar</a:t>
            </a:r>
            <a:r>
              <a:rPr sz="1250" b="0">
                <a:solidFill>
                  <a:srgbClr val="4D5358"/>
                </a:solidFill>
                <a:latin typeface="Arial"/>
              </a:rPr>
              <a:t> as duas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abordagens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em</a:t>
            </a:r>
            <a:r>
              <a:rPr sz="1250" b="0">
                <a:solidFill>
                  <a:srgbClr val="4D5358"/>
                </a:solidFill>
                <a:latin typeface="Arial"/>
              </a:rPr>
              <a:t> um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estudo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prático</a:t>
            </a:r>
            <a:r>
              <a:rPr sz="1250" b="0">
                <a:solidFill>
                  <a:srgbClr val="4D5358"/>
                </a:solidFill>
                <a:latin typeface="Arial"/>
              </a:rPr>
              <a:t>.</a:t>
            </a:r>
            <a:r>
              <a:rPr lang="pt-BR" sz="1250">
                <a:solidFill>
                  <a:srgbClr val="4D5358"/>
                </a:solidFill>
                <a:latin typeface="Arial"/>
                <a:cs typeface="Arial"/>
              </a:rPr>
              <a:t> </a:t>
            </a:r>
            <a:endParaRPr lang="pt-BR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250" b="1" err="1">
                <a:solidFill>
                  <a:srgbClr val="4D5358"/>
                </a:solidFill>
                <a:latin typeface="Arial"/>
                <a:cs typeface="Arial"/>
              </a:rPr>
              <a:t>OpenSpec</a:t>
            </a:r>
            <a:r>
              <a:rPr lang="pt-BR" sz="1250">
                <a:solidFill>
                  <a:srgbClr val="4D5358"/>
                </a:solidFill>
                <a:latin typeface="Arial"/>
                <a:cs typeface="Arial"/>
              </a:rPr>
              <a:t>: leve e menos token utilizado, menos opinativo. </a:t>
            </a:r>
            <a:r>
              <a:rPr lang="pt-BR" sz="1250" b="1" err="1">
                <a:solidFill>
                  <a:srgbClr val="4D5358"/>
                </a:solidFill>
                <a:latin typeface="Arial"/>
                <a:cs typeface="Arial"/>
              </a:rPr>
              <a:t>Speckit</a:t>
            </a:r>
            <a:r>
              <a:rPr lang="pt-BR" sz="1250" b="1">
                <a:solidFill>
                  <a:srgbClr val="4D5358"/>
                </a:solidFill>
                <a:latin typeface="Arial"/>
                <a:cs typeface="Arial"/>
              </a:rPr>
              <a:t>:</a:t>
            </a:r>
            <a:r>
              <a:rPr lang="pt-BR" sz="1250">
                <a:solidFill>
                  <a:srgbClr val="4D5358"/>
                </a:solidFill>
                <a:latin typeface="Arial"/>
                <a:cs typeface="Arial"/>
              </a:rPr>
              <a:t> Mais inteligente na especificação, mais opinativo, gasta mais token.</a:t>
            </a:r>
            <a:endParaRPr lang="pt-BR">
              <a:cs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58723" y="1955144"/>
            <a:ext cx="5029200" cy="1714746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3975" y="1945312"/>
            <a:ext cx="5029200" cy="10972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8295" y="221963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POC: Superpowers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8295" y="2695120"/>
            <a:ext cx="4480560" cy="413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err="1">
                <a:solidFill>
                  <a:srgbClr val="4D5358"/>
                </a:solidFill>
                <a:latin typeface="Arial"/>
              </a:rPr>
              <a:t>Experimentação</a:t>
            </a:r>
            <a:r>
              <a:rPr sz="1250" b="0">
                <a:solidFill>
                  <a:srgbClr val="4D5358"/>
                </a:solidFill>
                <a:latin typeface="Arial"/>
              </a:rPr>
              <a:t> com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diferentes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providers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 de IA e avaliação na </a:t>
            </a:r>
            <a:r>
              <a:rPr lang="pt-BR" sz="1250" err="1">
                <a:solidFill>
                  <a:srgbClr val="4D5358"/>
                </a:solidFill>
                <a:latin typeface="Arial"/>
              </a:rPr>
              <a:t>implementaç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ão de testes (tests.md). </a:t>
            </a:r>
            <a:endParaRPr lang="pt-BR" sz="1250">
              <a:solidFill>
                <a:srgbClr val="4D5358"/>
              </a:solidFill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76447" y="3819831"/>
            <a:ext cx="5029200" cy="16459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6447" y="3819831"/>
            <a:ext cx="5029200" cy="10972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0767" y="4094151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TestSpec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767" y="4569639"/>
            <a:ext cx="4480560" cy="413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250">
                <a:solidFill>
                  <a:srgbClr val="4D5358"/>
                </a:solidFill>
                <a:latin typeface="Arial"/>
              </a:rPr>
              <a:t>Validando</a:t>
            </a:r>
            <a:r>
              <a:rPr sz="1250" b="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TestSpec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nos</a:t>
            </a:r>
            <a:r>
              <a:rPr sz="1250" b="0">
                <a:solidFill>
                  <a:srgbClr val="4D5358"/>
                </a:solidFill>
                <a:latin typeface="Arial"/>
              </a:rPr>
              <a:t> testes </a:t>
            </a:r>
            <a:r>
              <a:rPr sz="1250" b="0" err="1">
                <a:solidFill>
                  <a:srgbClr val="4D5358"/>
                </a:solidFill>
                <a:latin typeface="Arial"/>
              </a:rPr>
              <a:t>end-to-end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 e workflow de testes.</a:t>
            </a:r>
            <a:endParaRPr lang="pt-BR" sz="125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3975" y="3819831"/>
            <a:ext cx="5029200" cy="16459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3975" y="3819831"/>
            <a:ext cx="5029200" cy="109728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8295" y="4094151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1F24"/>
                </a:solidFill>
                <a:latin typeface="Arial"/>
              </a:rPr>
              <a:t>Code review focado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4050" y="4441820"/>
            <a:ext cx="4480560" cy="844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4D5358"/>
                </a:solidFill>
                <a:latin typeface="Arial"/>
              </a:rPr>
              <a:t>Menos controle do código 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e </a:t>
            </a:r>
            <a:r>
              <a:rPr sz="1250" b="0">
                <a:solidFill>
                  <a:srgbClr val="4D5358"/>
                </a:solidFill>
                <a:latin typeface="Arial"/>
              </a:rPr>
              <a:t>mais controle das funcionalidades — alcance máximo da velocidade.</a:t>
            </a:r>
            <a:r>
              <a:rPr lang="pt-BR" sz="1250">
                <a:solidFill>
                  <a:srgbClr val="4D5358"/>
                </a:solidFill>
                <a:latin typeface="Arial"/>
              </a:rPr>
              <a:t> Todo DEV virá QA. Podemos ser 6x a 10x mais rápidos. Em análise e mensurando riscos futuros.</a:t>
            </a:r>
            <a:endParaRPr lang="pt-BR" sz="1250" b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Experimentos e decisões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2D85F7F-2B29-9348-59AD-04C8C345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CCF92-2B23-4EE7-A784-30E1477F6F2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45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s_Institucionais_Tema03">
  <a:themeElements>
    <a:clrScheme name="PagSeguro PagBank">
      <a:dk1>
        <a:srgbClr val="000000"/>
      </a:dk1>
      <a:lt1>
        <a:srgbClr val="FFFFFF"/>
      </a:lt1>
      <a:dk2>
        <a:srgbClr val="656767"/>
      </a:dk2>
      <a:lt2>
        <a:srgbClr val="E7E6E6"/>
      </a:lt2>
      <a:accent1>
        <a:srgbClr val="9ED5D6"/>
      </a:accent1>
      <a:accent2>
        <a:srgbClr val="FFE72C"/>
      </a:accent2>
      <a:accent3>
        <a:srgbClr val="D3E167"/>
      </a:accent3>
      <a:accent4>
        <a:srgbClr val="E3A038"/>
      </a:accent4>
      <a:accent5>
        <a:srgbClr val="8EB74F"/>
      </a:accent5>
      <a:accent6>
        <a:srgbClr val="D36D6E"/>
      </a:accent6>
      <a:hlink>
        <a:srgbClr val="45559C"/>
      </a:hlink>
      <a:folHlink>
        <a:srgbClr val="8E5BA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_Institucionais_Tema03" id="{2395E7E2-D369-B948-B127-86C981E302FD}" vid="{8709129A-E169-8D40-87DF-28AAD41CB44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815BF274F90A47AC3B654A188E5480" ma:contentTypeVersion="16" ma:contentTypeDescription="Crie um novo documento." ma:contentTypeScope="" ma:versionID="294b90a5ecea144b22492e63f47a13df">
  <xsd:schema xmlns:xsd="http://www.w3.org/2001/XMLSchema" xmlns:xs="http://www.w3.org/2001/XMLSchema" xmlns:p="http://schemas.microsoft.com/office/2006/metadata/properties" xmlns:ns3="d8d674a8-5624-47b0-93a3-d7e194eb6094" xmlns:ns4="e9e8db00-9871-41fc-a4a6-2c77378e8664" targetNamespace="http://schemas.microsoft.com/office/2006/metadata/properties" ma:root="true" ma:fieldsID="ecea4f4006ffbf5e84768859cf86a80e" ns3:_="" ns4:_="">
    <xsd:import namespace="d8d674a8-5624-47b0-93a3-d7e194eb6094"/>
    <xsd:import namespace="e9e8db00-9871-41fc-a4a6-2c77378e866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674a8-5624-47b0-93a3-d7e194eb60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8db00-9871-41fc-a4a6-2c77378e866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d674a8-5624-47b0-93a3-d7e194eb60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B6B427-A52D-4D6C-85F8-7C403F37F5DA}">
  <ds:schemaRefs>
    <ds:schemaRef ds:uri="d8d674a8-5624-47b0-93a3-d7e194eb6094"/>
    <ds:schemaRef ds:uri="e9e8db00-9871-41fc-a4a6-2c77378e8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BE671E-8EAF-49EF-882E-8E86AF5D8A55}">
  <ds:schemaRefs>
    <ds:schemaRef ds:uri="d8d674a8-5624-47b0-93a3-d7e194eb6094"/>
    <ds:schemaRef ds:uri="e9e8db00-9871-41fc-a4a6-2c77378e86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38C4E5F-8DEE-4153-920C-C127A5C47E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Templates_Institucionais_Tema03</Template>
  <Application>Microsoft Office PowerPoint</Application>
  <PresentationFormat>Widescreen</PresentationFormat>
  <Slides>13</Slides>
  <Notes>0</Notes>
  <HiddenSlides>3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Templates_Institucionais_Tema03</vt:lpstr>
      <vt:lpstr>Workflow Proposta para novos projetos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86</cp:revision>
  <dcterms:created xsi:type="dcterms:W3CDTF">2020-09-24T13:23:55Z</dcterms:created>
  <dcterms:modified xsi:type="dcterms:W3CDTF">2026-08-14T15:08:14Z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0x01010042815BF274F90A47AC3B654A188E5480</vt:lpwstr>
  </property>
  <property fmtid="{D5CDD505-2E9C-101B-9397-08002B2CF9AE}" pid="3" name="MSIP_Label_f6a73fae-5dbd-458a-93e0-5fdf739dc18f_Enabled">
    <vt:lpwstr>true</vt:lpwstr>
  </property>
  <property fmtid="{D5CDD505-2E9C-101B-9397-08002B2CF9AE}" pid="4" name="MSIP_Label_f6a73fae-5dbd-458a-93e0-5fdf739dc18f_SetDate">
    <vt:lpwstr>2022-08-22T12:50:22Z</vt:lpwstr>
  </property>
  <property fmtid="{D5CDD505-2E9C-101B-9397-08002B2CF9AE}" pid="5" name="MSIP_Label_f6a73fae-5dbd-458a-93e0-5fdf739dc18f_Method">
    <vt:lpwstr>Privileged</vt:lpwstr>
  </property>
  <property fmtid="{D5CDD505-2E9C-101B-9397-08002B2CF9AE}" pid="6" name="MSIP_Label_f6a73fae-5dbd-458a-93e0-5fdf739dc18f_Name">
    <vt:lpwstr>f6a73fae-5dbd-458a-93e0-5fdf739dc18f</vt:lpwstr>
  </property>
  <property fmtid="{D5CDD505-2E9C-101B-9397-08002B2CF9AE}" pid="7" name="MSIP_Label_f6a73fae-5dbd-458a-93e0-5fdf739dc18f_SiteId">
    <vt:lpwstr>7575b092-fc5f-4f6c-b7a5-9e9ef7aca80d</vt:lpwstr>
  </property>
  <property fmtid="{D5CDD505-2E9C-101B-9397-08002B2CF9AE}" pid="8" name="MSIP_Label_f6a73fae-5dbd-458a-93e0-5fdf739dc18f_ActionId">
    <vt:lpwstr>f957c2aa-c31f-4164-b3b2-cc8c827ff3a4</vt:lpwstr>
  </property>
  <property fmtid="{D5CDD505-2E9C-101B-9397-08002B2CF9AE}" pid="9" name="MSIP_Label_f6a73fae-5dbd-458a-93e0-5fdf739dc18f_ContentBits">
    <vt:lpwstr>0</vt:lpwstr>
  </property>
  <property fmtid="{D5CDD505-2E9C-101B-9397-08002B2CF9AE}" pid="10" name="MediaServiceImageTags">
    <vt:lpwstr/>
  </property>
</Properties>
</file>