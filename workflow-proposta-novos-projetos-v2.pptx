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8" r:id="rId6"/>
    <p:sldId id="259" r:id="rId7"/>
    <p:sldId id="261" r:id="rId8"/>
    <p:sldId id="268" r:id="rId9"/>
    <p:sldId id="266" r:id="rId10"/>
    <p:sldId id="269" r:id="rId11"/>
    <p:sldId id="271" r:id="rId12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5B765EA-5984-4AB4-BD67-F9CD5F7856A6}">
          <p14:sldIdLst>
            <p14:sldId id="256"/>
            <p14:sldId id="258"/>
            <p14:sldId id="259"/>
            <p14:sldId id="261"/>
            <p14:sldId id="268"/>
            <p14:sldId id="266"/>
            <p14:sldId id="269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30459-8DCD-4CC7-4D37-AD80CBD731C3}" v="3885" dt="2026-08-14T21:54:16.856"/>
    <p1510:client id="{65F6C02C-FFCC-F9A5-B941-425602B5173C}" v="572" dt="2026-08-14T14:54:36.257"/>
    <p1510:client id="{FA179F11-0544-2AF5-4B3E-BACD33968C28}" v="6" dt="2026-08-14T14:57:22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F2B58-F746-4285-8393-3441F614143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2DC5A-91D9-42E3-B5C5-CEA36773DB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83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nstitucio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43312-4A65-4F44-ADD1-4A4180EBFB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089025"/>
            <a:ext cx="4897438" cy="911350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INSERIR TÍTULO DA APRESENTAÇÃO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3A8B9-0910-DD4F-B366-82B21936C5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407187"/>
            <a:ext cx="4897438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Inserir</a:t>
            </a:r>
            <a:r>
              <a:rPr lang="en-US"/>
              <a:t> </a:t>
            </a:r>
            <a:r>
              <a:rPr lang="en-US" err="1"/>
              <a:t>subtítulo</a:t>
            </a:r>
            <a:r>
              <a:rPr lang="en-US"/>
              <a:t>, se </a:t>
            </a:r>
            <a:r>
              <a:rPr lang="en-US" err="1"/>
              <a:t>houver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20124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9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orient="horz" pos="3566">
          <p15:clr>
            <a:srgbClr val="FBAE40"/>
          </p15:clr>
        </p15:guide>
        <p15:guide id="6">
          <p15:clr>
            <a:srgbClr val="FBAE40"/>
          </p15:clr>
        </p15:guide>
        <p15:guide id="10" orient="horz" pos="686">
          <p15:clr>
            <a:srgbClr val="FBAE40"/>
          </p15:clr>
        </p15:guide>
        <p15:guide id="11" orient="horz" pos="1502">
          <p15:clr>
            <a:srgbClr val="FBAE40"/>
          </p15:clr>
        </p15:guide>
        <p15:guide id="12" orient="horz" pos="1253">
          <p15:clr>
            <a:srgbClr val="FBAE40"/>
          </p15:clr>
        </p15:guide>
        <p15:guide id="13" orient="horz" pos="1752">
          <p15:clr>
            <a:srgbClr val="FBAE40"/>
          </p15:clr>
        </p15:guide>
        <p15:guide id="14" pos="3613">
          <p15:clr>
            <a:srgbClr val="FBAE40"/>
          </p15:clr>
        </p15:guide>
        <p15:guide id="15" pos="34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91BAD22-02E9-A44C-904A-33EB32554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061" y="256035"/>
            <a:ext cx="10496066" cy="977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 b="1"/>
            </a:lvl1pPr>
          </a:lstStyle>
          <a:p>
            <a:r>
              <a:rPr lang="en-US"/>
              <a:t>CLIQUE PARA ADICIONAR UM TÍTULO,</a:t>
            </a:r>
            <a:br>
              <a:rPr lang="en-US"/>
            </a:br>
            <a:r>
              <a:rPr lang="en-US"/>
              <a:t>FONTE ARIAL 24 PT, BOLD</a:t>
            </a:r>
            <a:endParaRPr lang="en-BR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5ED7C4D-C9D4-BA4D-B92A-54C5C86369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060" y="1431236"/>
            <a:ext cx="11496261" cy="46822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</a:lstStyle>
          <a:p>
            <a:pPr lvl="0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o </a:t>
            </a:r>
            <a:r>
              <a:rPr lang="en-US" err="1"/>
              <a:t>texto</a:t>
            </a:r>
            <a:r>
              <a:rPr lang="en-US"/>
              <a:t> principal, </a:t>
            </a:r>
            <a:r>
              <a:rPr lang="en-US" err="1"/>
              <a:t>fonte</a:t>
            </a:r>
            <a:r>
              <a:rPr lang="en-US"/>
              <a:t> Arial 18pt, regular.</a:t>
            </a:r>
          </a:p>
          <a:p>
            <a:pPr lvl="1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um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secundário</a:t>
            </a:r>
            <a:r>
              <a:rPr lang="en-US"/>
              <a:t>, </a:t>
            </a:r>
            <a:r>
              <a:rPr lang="en-US" err="1"/>
              <a:t>fonte</a:t>
            </a:r>
            <a:r>
              <a:rPr lang="en-US"/>
              <a:t> Arial 16pt, regular.</a:t>
            </a:r>
          </a:p>
          <a:p>
            <a:pPr lvl="2"/>
            <a:r>
              <a:rPr lang="en-US"/>
              <a:t>Clique para </a:t>
            </a:r>
            <a:r>
              <a:rPr lang="en-US" err="1"/>
              <a:t>adicionar</a:t>
            </a:r>
            <a:r>
              <a:rPr lang="en-US"/>
              <a:t> um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jurídico</a:t>
            </a:r>
            <a:r>
              <a:rPr lang="en-US"/>
              <a:t>, </a:t>
            </a:r>
            <a:r>
              <a:rPr lang="en-US" err="1"/>
              <a:t>referência</a:t>
            </a:r>
            <a:r>
              <a:rPr lang="en-US"/>
              <a:t> </a:t>
            </a:r>
            <a:r>
              <a:rPr lang="en-US" err="1"/>
              <a:t>bibliográfica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legendas</a:t>
            </a:r>
            <a:r>
              <a:rPr lang="en-US"/>
              <a:t>, </a:t>
            </a:r>
            <a:r>
              <a:rPr lang="en-US" err="1"/>
              <a:t>fonte</a:t>
            </a:r>
            <a:r>
              <a:rPr lang="en-US"/>
              <a:t> Arial 12pt regular.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9F1FEB7-0D1A-6F48-AC37-56E108B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4083" y="6307178"/>
            <a:ext cx="503238" cy="215900"/>
          </a:xfrm>
          <a:prstGeom prst="rect">
            <a:avLst/>
          </a:prstGeom>
        </p:spPr>
        <p:txBody>
          <a:bodyPr/>
          <a:lstStyle>
            <a:lvl1pPr algn="ctr">
              <a:defRPr sz="1000"/>
            </a:lvl1pPr>
          </a:lstStyle>
          <a:p>
            <a:fld id="{0E7CE5EB-ABFC-D84C-853D-84862771EFB7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057F4BC7-91F7-8C4F-BE58-FF939570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2648" y="6356349"/>
            <a:ext cx="5256213" cy="204789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/>
            </a:lvl1pPr>
          </a:lstStyle>
          <a:p>
            <a:pPr algn="l"/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Clique para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inserir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fontes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referenciais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,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legendas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e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notas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de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rodapé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, </a:t>
            </a:r>
            <a:r>
              <a:rPr lang="en-US" err="1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fonte</a:t>
            </a:r>
            <a:r>
              <a:rPr lang="en-US">
                <a:solidFill>
                  <a:prstClr val="black">
                    <a:lumMod val="85000"/>
                    <a:lumOff val="15000"/>
                  </a:prstClr>
                </a:solidFill>
                <a:cs typeface="Arial" panose="020B0604020202020204" pitchFamily="34" charset="0"/>
              </a:rPr>
              <a:t> Arial, 8pts.</a:t>
            </a:r>
            <a:endParaRPr lang="en-BR">
              <a:solidFill>
                <a:prstClr val="black">
                  <a:lumMod val="85000"/>
                  <a:lumOff val="15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12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orient="horz" pos="958">
          <p15:clr>
            <a:srgbClr val="FBAE40"/>
          </p15:clr>
        </p15:guide>
        <p15:guide id="3" orient="horz" pos="1253">
          <p15:clr>
            <a:srgbClr val="FBAE40"/>
          </p15:clr>
        </p15:guide>
        <p15:guide id="4" orient="horz" pos="3861">
          <p15:clr>
            <a:srgbClr val="FBAE40"/>
          </p15:clr>
        </p15:guide>
        <p15:guide id="5" pos="529">
          <p15:clr>
            <a:srgbClr val="FBAE40"/>
          </p15:clr>
        </p15:guide>
        <p15:guide id="6" pos="6992">
          <p15:clr>
            <a:srgbClr val="FBAE40"/>
          </p15:clr>
        </p15:guide>
        <p15:guide id="7" pos="7151">
          <p15:clr>
            <a:srgbClr val="FBAE40"/>
          </p15:clr>
        </p15:guide>
        <p15:guide id="8" pos="3840">
          <p15:clr>
            <a:srgbClr val="FBAE40"/>
          </p15:clr>
        </p15:guide>
        <p15:guide id="9" pos="7469">
          <p15:clr>
            <a:srgbClr val="FBAE40"/>
          </p15:clr>
        </p15:guide>
        <p15:guide id="10" pos="7310">
          <p15:clr>
            <a:srgbClr val="FBAE40"/>
          </p15:clr>
        </p15:guide>
        <p15:guide id="11" orient="horz" pos="4133">
          <p15:clr>
            <a:srgbClr val="FBAE40"/>
          </p15:clr>
        </p15:guide>
        <p15:guide id="12" orient="horz" pos="3997">
          <p15:clr>
            <a:srgbClr val="FBAE40"/>
          </p15:clr>
        </p15:guide>
        <p15:guide id="14" pos="574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 de Capítul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ED4848F-F3F1-054F-81F3-D63BE4777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104383"/>
            <a:ext cx="4718050" cy="980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/>
            </a:lvl1pPr>
          </a:lstStyle>
          <a:p>
            <a:r>
              <a:rPr lang="en-US"/>
              <a:t>CLIQUE PARA ADD O TÍTULO DO CAPÍTULO</a:t>
            </a:r>
            <a:endParaRPr lang="en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33FF7AD-FD62-2B4B-8EA3-3542B7E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45238"/>
            <a:ext cx="503238" cy="215900"/>
          </a:xfrm>
          <a:prstGeom prst="rect">
            <a:avLst/>
          </a:prstGeom>
        </p:spPr>
        <p:txBody>
          <a:bodyPr/>
          <a:lstStyle>
            <a:lvl1pPr algn="ctr">
              <a:defRPr sz="1000"/>
            </a:lvl1pPr>
          </a:lstStyle>
          <a:p>
            <a:fld id="{0E7CE5EB-ABFC-D84C-853D-84862771EFB7}" type="slidenum">
              <a:rPr lang="en-BR" smtClean="0"/>
              <a:pPr/>
              <a:t>‹nº›</a:t>
            </a:fld>
            <a:endParaRPr lang="en-BR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A14E8E01-7894-79E7-35AC-671599B00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3125" y="3320489"/>
            <a:ext cx="4713483" cy="71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r>
              <a:rPr lang="en-US" sz="1800" b="0"/>
              <a:t>Clique para add </a:t>
            </a:r>
            <a:r>
              <a:rPr lang="en-US" sz="1800" b="0" err="1"/>
              <a:t>subtítulo</a:t>
            </a:r>
            <a:r>
              <a:rPr lang="en-US" sz="1800" b="0"/>
              <a:t>, se </a:t>
            </a:r>
            <a:r>
              <a:rPr lang="en-US" sz="1800" b="0" err="1"/>
              <a:t>houver</a:t>
            </a:r>
            <a:endParaRPr lang="en-BR" sz="1800" b="0"/>
          </a:p>
        </p:txBody>
      </p:sp>
    </p:spTree>
    <p:extLst>
      <p:ext uri="{BB962C8B-B14F-4D97-AF65-F5344CB8AC3E}">
        <p14:creationId xmlns:p14="http://schemas.microsoft.com/office/powerpoint/2010/main" val="298506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pos="3500">
          <p15:clr>
            <a:srgbClr val="FBAE40"/>
          </p15:clr>
        </p15:guide>
        <p15:guide id="3" orient="horz" pos="1321">
          <p15:clr>
            <a:srgbClr val="FBAE40"/>
          </p15:clr>
        </p15:guide>
        <p15:guide id="4" orient="horz" pos="1933">
          <p15:clr>
            <a:srgbClr val="FBAE40"/>
          </p15:clr>
        </p15:guide>
        <p15:guide id="5" orient="horz" pos="2341">
          <p15:clr>
            <a:srgbClr val="FBAE40"/>
          </p15:clr>
        </p15:guide>
        <p15:guide id="6" orient="horz" pos="259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A1FAB2-B1F5-478B-F42D-826D9E12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CC1B-FB0D-46C7-981E-40BBB67EF93C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1FEDFA-4FCF-3426-0245-A510A606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211B9C-A766-19CD-9E8C-519C6DBC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CCF92-2B23-4EE7-A784-30E1477F6F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36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753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0490" y="1089025"/>
            <a:ext cx="6175631" cy="911350"/>
          </a:xfrm>
        </p:spPr>
        <p:txBody>
          <a:bodyPr wrap="square" lIns="91440" tIns="45720" rIns="91440" bIns="45720" anchor="b"/>
          <a:lstStyle/>
          <a:p>
            <a:r>
              <a:rPr lang="pt-BR" dirty="0">
                <a:solidFill>
                  <a:srgbClr val="1A1F24"/>
                </a:solidFill>
                <a:latin typeface="Arial"/>
              </a:rPr>
              <a:t>Workflow AI-</a:t>
            </a:r>
            <a:r>
              <a:rPr lang="pt-BR" dirty="0" err="1">
                <a:solidFill>
                  <a:srgbClr val="1A1F24"/>
                </a:solidFill>
                <a:latin typeface="Arial"/>
              </a:rPr>
              <a:t>First</a:t>
            </a:r>
            <a:br>
              <a:rPr lang="pt-BR" dirty="0">
                <a:solidFill>
                  <a:srgbClr val="1A1F24"/>
                </a:solidFill>
                <a:latin typeface="Arial"/>
              </a:rPr>
            </a:br>
            <a:r>
              <a:rPr lang="pt-BR" dirty="0">
                <a:solidFill>
                  <a:srgbClr val="2C7E80"/>
                </a:solidFill>
                <a:latin typeface="Arial"/>
              </a:rPr>
              <a:t>Proposta para novos projetos</a:t>
            </a:r>
            <a:endParaRPr sz="3000" b="1" dirty="0">
              <a:solidFill>
                <a:srgbClr val="2C7E80"/>
              </a:solidFill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490" y="2136800"/>
            <a:ext cx="4897438" cy="365125"/>
          </a:xfrm>
        </p:spPr>
        <p:txBody>
          <a:bodyPr lIns="91440" tIns="45720" rIns="91440" bIns="45720" anchor="t"/>
          <a:lstStyle/>
          <a:p>
            <a:r>
              <a:rPr lang="pt-BR" sz="1400">
                <a:solidFill>
                  <a:srgbClr val="4D5358"/>
                </a:solidFill>
                <a:latin typeface="Arial"/>
                <a:cs typeface="Arial"/>
              </a:rPr>
              <a:t>Fluxo de desenvolvimento de ponta a ponta implementado </a:t>
            </a:r>
            <a:r>
              <a:rPr lang="pt-BR" sz="1400" dirty="0">
                <a:solidFill>
                  <a:srgbClr val="4D5358"/>
                </a:solidFill>
                <a:latin typeface="Arial"/>
                <a:cs typeface="Arial"/>
              </a:rPr>
              <a:t>por IA</a:t>
            </a:r>
            <a:endParaRPr lang="pt-BR" sz="1400" b="0" dirty="0">
              <a:solidFill>
                <a:srgbClr val="4D5358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2535" y="3428017"/>
            <a:ext cx="4913180" cy="142872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pt-BR" sz="3000" b="1" dirty="0" err="1">
                <a:solidFill>
                  <a:srgbClr val="1A1F24"/>
                </a:solidFill>
                <a:latin typeface="Arial"/>
              </a:rPr>
              <a:t>Product</a:t>
            </a:r>
            <a:r>
              <a:rPr lang="pt-BR" sz="3000" b="1" dirty="0">
                <a:solidFill>
                  <a:srgbClr val="1A1F24"/>
                </a:solidFill>
                <a:latin typeface="Arial"/>
              </a:rPr>
              <a:t> </a:t>
            </a:r>
            <a:r>
              <a:rPr lang="pt-BR" sz="3000" b="1" dirty="0" err="1">
                <a:solidFill>
                  <a:srgbClr val="1A1F24"/>
                </a:solidFill>
                <a:latin typeface="Arial"/>
              </a:rPr>
              <a:t>Engineering</a:t>
            </a:r>
            <a:endParaRPr lang="pt-BR" sz="3000" b="1" dirty="0" err="1">
              <a:solidFill>
                <a:srgbClr val="1A1F24"/>
              </a:solidFill>
              <a:latin typeface="Arial"/>
              <a:cs typeface="Arial"/>
            </a:endParaRP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lang="pt-BR" sz="1400" dirty="0">
                <a:solidFill>
                  <a:srgbClr val="4D5358"/>
                </a:solidFill>
                <a:cs typeface="Arial"/>
              </a:rPr>
              <a:t>Não vamos falar de PO e desenvolvedor mas sim do profissional com foco na produtividade com entregas que </a:t>
            </a:r>
            <a:r>
              <a:rPr lang="pt-BR" sz="1400">
                <a:solidFill>
                  <a:srgbClr val="4D5358"/>
                </a:solidFill>
                <a:cs typeface="Arial"/>
              </a:rPr>
              <a:t>agregam valores nos produtos.</a:t>
            </a:r>
            <a:endParaRPr lang="pt-BR" sz="1400" dirty="0">
              <a:solidFill>
                <a:srgbClr val="4D5358"/>
              </a:solidFill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265174"/>
            <a:ext cx="4937760" cy="1132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300"/>
              </a:spcAft>
            </a:pPr>
            <a:r>
              <a:rPr lang="pt-BR" sz="1600" b="1" dirty="0" err="1">
                <a:solidFill>
                  <a:schemeClr val="accent5">
                    <a:lumMod val="49000"/>
                  </a:schemeClr>
                </a:solidFill>
                <a:latin typeface="Arial"/>
              </a:rPr>
              <a:t>Guardrails</a:t>
            </a:r>
            <a:endParaRPr lang="pt-BR" sz="160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lang="pt-BR" sz="1300" dirty="0">
                <a:solidFill>
                  <a:srgbClr val="4D5358"/>
                </a:solidFill>
                <a:latin typeface="Arial"/>
              </a:rPr>
              <a:t>Garantem agilidade e qualidade, teremos constituições, skills e agentes especifico para garantir a qualidade executando testes  </a:t>
            </a:r>
            <a:r>
              <a:rPr sz="1300" b="0" dirty="0" err="1">
                <a:solidFill>
                  <a:srgbClr val="4D5358"/>
                </a:solidFill>
                <a:latin typeface="Arial"/>
              </a:rPr>
              <a:t>integrados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,</a:t>
            </a:r>
            <a:r>
              <a:rPr sz="1300" b="0" dirty="0">
                <a:solidFill>
                  <a:srgbClr val="4D5358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D5358"/>
                </a:solidFill>
                <a:latin typeface="Arial"/>
              </a:rPr>
              <a:t>regressivos</a:t>
            </a:r>
            <a:r>
              <a:rPr sz="1300" b="0" dirty="0">
                <a:solidFill>
                  <a:srgbClr val="4D5358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D5358"/>
                </a:solidFill>
                <a:latin typeface="Arial"/>
              </a:rPr>
              <a:t>na</a:t>
            </a:r>
            <a:r>
              <a:rPr sz="1300" b="0" dirty="0">
                <a:solidFill>
                  <a:srgbClr val="4D5358"/>
                </a:solidFill>
                <a:latin typeface="Arial"/>
              </a:rPr>
              <a:t> Pipeline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, testes </a:t>
            </a:r>
            <a:r>
              <a:rPr lang="pt-BR" sz="1300" dirty="0" err="1">
                <a:solidFill>
                  <a:srgbClr val="4D5358"/>
                </a:solidFill>
                <a:latin typeface="Arial"/>
              </a:rPr>
              <a:t>end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 </a:t>
            </a:r>
            <a:r>
              <a:rPr lang="pt-BR" sz="1300" dirty="0" err="1">
                <a:solidFill>
                  <a:srgbClr val="4D5358"/>
                </a:solidFill>
                <a:latin typeface="Arial"/>
              </a:rPr>
              <a:t>to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 </a:t>
            </a:r>
            <a:r>
              <a:rPr lang="pt-BR" sz="1300" dirty="0" err="1">
                <a:solidFill>
                  <a:srgbClr val="4D5358"/>
                </a:solidFill>
                <a:latin typeface="Arial"/>
              </a:rPr>
              <a:t>end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 envolvendo o app e </a:t>
            </a:r>
            <a:r>
              <a:rPr lang="pt-BR" sz="1300" dirty="0" err="1">
                <a:solidFill>
                  <a:srgbClr val="4D5358"/>
                </a:solidFill>
                <a:latin typeface="Arial"/>
              </a:rPr>
              <a:t>backend</a:t>
            </a:r>
            <a:r>
              <a:rPr lang="pt-BR" sz="1300" dirty="0">
                <a:solidFill>
                  <a:srgbClr val="4D5358"/>
                </a:solidFill>
                <a:latin typeface="Arial"/>
              </a:rPr>
              <a:t>.</a:t>
            </a:r>
            <a:endParaRPr sz="1300" b="0" dirty="0">
              <a:solidFill>
                <a:srgbClr val="767C8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3A038"/>
                </a:solidFill>
                <a:latin typeface="Arial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800" b="1">
                <a:solidFill>
                  <a:srgbClr val="1A1F24"/>
                </a:solidFill>
                <a:ea typeface="+mn-lt"/>
                <a:cs typeface="+mn-lt"/>
              </a:rPr>
              <a:t>Mudança de mentalidade no jeito de criar produtos</a:t>
            </a:r>
            <a:endParaRPr lang="pt-BR" sz="2800" b="1">
              <a:solidFill>
                <a:srgbClr val="1A1F24"/>
              </a:solidFill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10424160" cy="212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400">
                <a:solidFill>
                  <a:srgbClr val="4D5358"/>
                </a:solidFill>
                <a:ea typeface="+mn-lt"/>
                <a:cs typeface="+mn-lt"/>
              </a:rPr>
              <a:t>Como o trabalho muda na prática. O que era, o que passa a ser</a:t>
            </a:r>
            <a:endParaRPr lang="pt-BR"/>
          </a:p>
        </p:txBody>
      </p:sp>
      <p:sp>
        <p:nvSpPr>
          <p:cNvPr id="6" name="Rounded Rectangle 5"/>
          <p:cNvSpPr/>
          <p:nvPr/>
        </p:nvSpPr>
        <p:spPr>
          <a:xfrm>
            <a:off x="896112" y="2298290"/>
            <a:ext cx="3427977" cy="2514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2298290"/>
            <a:ext cx="3427977" cy="109728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84089" y="2298290"/>
            <a:ext cx="3427977" cy="2514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84089" y="2298290"/>
            <a:ext cx="3427977" cy="10972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1853" y="2554321"/>
            <a:ext cx="2872449" cy="44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400" b="1">
                <a:solidFill>
                  <a:srgbClr val="1A1F24"/>
                </a:solidFill>
                <a:latin typeface="Arial"/>
                <a:cs typeface="Arial"/>
              </a:rPr>
              <a:t>CONVERSAS SER TORNAM ARTEFATOS</a:t>
            </a:r>
            <a:endParaRPr lang="pt-BR" sz="1400" dirty="0"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61853" y="3095194"/>
            <a:ext cx="2872449" cy="1428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sz="1400" dirty="0">
                <a:solidFill>
                  <a:srgbClr val="4D5358"/>
                </a:solidFill>
                <a:ea typeface="+mn-lt"/>
                <a:cs typeface="+mn-lt"/>
              </a:rPr>
              <a:t>O que era alinhamento em reunião passa a ser arquivo </a:t>
            </a:r>
            <a:r>
              <a:rPr lang="pt-BR" sz="1400" dirty="0" err="1">
                <a:solidFill>
                  <a:srgbClr val="4D5358"/>
                </a:solidFill>
                <a:ea typeface="+mn-lt"/>
                <a:cs typeface="+mn-lt"/>
              </a:rPr>
              <a:t>transcript</a:t>
            </a:r>
            <a:r>
              <a:rPr lang="pt-BR" sz="1400" dirty="0">
                <a:solidFill>
                  <a:srgbClr val="4D5358"/>
                </a:solidFill>
                <a:ea typeface="+mn-lt"/>
                <a:cs typeface="+mn-lt"/>
              </a:rPr>
              <a:t> </a:t>
            </a:r>
            <a:r>
              <a:rPr lang="pt-BR" sz="1400" dirty="0" err="1">
                <a:solidFill>
                  <a:srgbClr val="4D5358"/>
                </a:solidFill>
                <a:ea typeface="+mn-lt"/>
                <a:cs typeface="+mn-lt"/>
              </a:rPr>
              <a:t>versionado</a:t>
            </a:r>
            <a:r>
              <a:rPr lang="pt-BR" sz="1400" dirty="0">
                <a:solidFill>
                  <a:srgbClr val="4D5358"/>
                </a:solidFill>
                <a:ea typeface="+mn-lt"/>
                <a:cs typeface="+mn-lt"/>
              </a:rPr>
              <a:t>, revisável e com histórico. Decisão deixa de se perder e sempre é revisitado por IA.</a:t>
            </a:r>
            <a:endParaRPr lang="pt-BR" sz="1400" dirty="0">
              <a:cs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2066" y="2298290"/>
            <a:ext cx="3427977" cy="2514600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2066" y="2298290"/>
            <a:ext cx="3427977" cy="109728"/>
          </a:xfrm>
          <a:prstGeom prst="rect">
            <a:avLst/>
          </a:prstGeom>
          <a:solidFill>
            <a:srgbClr val="D36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6112" y="5074920"/>
            <a:ext cx="10796310" cy="822960"/>
          </a:xfrm>
          <a:prstGeom prst="round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395607"/>
            <a:ext cx="9875520" cy="2273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A1F24"/>
                </a:solidFill>
                <a:latin typeface="Arial"/>
              </a:rPr>
              <a:t>Maturidade</a:t>
            </a:r>
            <a:r>
              <a:rPr sz="1500" b="1" dirty="0">
                <a:solidFill>
                  <a:srgbClr val="1A1F24"/>
                </a:solidFill>
                <a:latin typeface="Arial"/>
              </a:rPr>
              <a:t> e workflow </a:t>
            </a:r>
            <a:r>
              <a:rPr sz="1500" b="0" dirty="0" err="1">
                <a:solidFill>
                  <a:srgbClr val="1A1F24"/>
                </a:solidFill>
                <a:latin typeface="Arial"/>
              </a:rPr>
              <a:t>mantêm</a:t>
            </a:r>
            <a:r>
              <a:rPr sz="1500" b="0" dirty="0">
                <a:solidFill>
                  <a:srgbClr val="1A1F24"/>
                </a:solidFill>
                <a:latin typeface="Arial"/>
              </a:rPr>
              <a:t> a IA </a:t>
            </a:r>
            <a:r>
              <a:rPr sz="1500" b="0" dirty="0" err="1">
                <a:solidFill>
                  <a:srgbClr val="1A1F24"/>
                </a:solidFill>
                <a:latin typeface="Arial"/>
              </a:rPr>
              <a:t>dentro</a:t>
            </a:r>
            <a:r>
              <a:rPr sz="1500" b="0" dirty="0">
                <a:solidFill>
                  <a:srgbClr val="1A1F24"/>
                </a:solidFill>
                <a:latin typeface="Arial"/>
              </a:rPr>
              <a:t> do </a:t>
            </a:r>
            <a:r>
              <a:rPr sz="1500" b="0" dirty="0" err="1">
                <a:solidFill>
                  <a:srgbClr val="1A1F24"/>
                </a:solidFill>
                <a:latin typeface="Arial"/>
              </a:rPr>
              <a:t>contexto</a:t>
            </a:r>
            <a:r>
              <a:rPr sz="1500" b="0" dirty="0">
                <a:solidFill>
                  <a:srgbClr val="1A1F24"/>
                </a:solidFill>
                <a:latin typeface="Arial"/>
              </a:rPr>
              <a:t> — e </a:t>
            </a:r>
            <a:r>
              <a:rPr sz="1500" b="0" dirty="0" err="1">
                <a:solidFill>
                  <a:srgbClr val="1A1F24"/>
                </a:solidFill>
                <a:latin typeface="Arial"/>
              </a:rPr>
              <a:t>protegem</a:t>
            </a:r>
            <a:r>
              <a:rPr sz="1500" b="0" dirty="0">
                <a:solidFill>
                  <a:srgbClr val="1A1F24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1F24"/>
                </a:solidFill>
                <a:latin typeface="Arial"/>
              </a:rPr>
              <a:t>os</a:t>
            </a:r>
            <a:r>
              <a:rPr sz="1500" b="0" dirty="0">
                <a:solidFill>
                  <a:srgbClr val="1A1F24"/>
                </a:solidFill>
                <a:latin typeface="Arial"/>
              </a:rPr>
              <a:t> </a:t>
            </a:r>
            <a:r>
              <a:rPr lang="pt-BR" sz="1500" dirty="0">
                <a:solidFill>
                  <a:srgbClr val="1A1F24"/>
                </a:solidFill>
                <a:latin typeface="Arial"/>
              </a:rPr>
              <a:t>fluxos</a:t>
            </a:r>
            <a:r>
              <a:rPr sz="1500" b="0" dirty="0">
                <a:solidFill>
                  <a:srgbClr val="1A1F24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1F24"/>
                </a:solidFill>
                <a:latin typeface="Arial"/>
              </a:rPr>
              <a:t>já</a:t>
            </a:r>
            <a:r>
              <a:rPr sz="1500" b="0" dirty="0">
                <a:solidFill>
                  <a:srgbClr val="1A1F24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1F24"/>
                </a:solidFill>
                <a:latin typeface="Arial"/>
              </a:rPr>
              <a:t>existentes</a:t>
            </a:r>
            <a:r>
              <a:rPr sz="1500" b="0" dirty="0">
                <a:solidFill>
                  <a:srgbClr val="1A1F24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767C82"/>
                </a:solidFill>
                <a:latin typeface="Arial"/>
              </a:rPr>
              <a:t>Contexto e desafio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39E54ACA-88C8-6669-3DC9-DA609F04ECB9}"/>
              </a:ext>
            </a:extLst>
          </p:cNvPr>
          <p:cNvSpPr txBox="1"/>
          <p:nvPr/>
        </p:nvSpPr>
        <p:spPr>
          <a:xfrm>
            <a:off x="1173876" y="2591192"/>
            <a:ext cx="2872449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1A1F24"/>
                </a:solidFill>
                <a:latin typeface="Arial"/>
                <a:cs typeface="Arial"/>
              </a:rPr>
              <a:t>PLANEJAMENTO &amp; TEMPO</a:t>
            </a:r>
            <a:endParaRPr lang="pt-BR" sz="1400" b="1">
              <a:solidFill>
                <a:srgbClr val="1A1F24"/>
              </a:solidFill>
              <a:cs typeface="Arial" panose="020B0604020202020204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41C75DDA-633A-FE72-6FFE-2E38197BE59F}"/>
              </a:ext>
            </a:extLst>
          </p:cNvPr>
          <p:cNvSpPr txBox="1"/>
          <p:nvPr/>
        </p:nvSpPr>
        <p:spPr>
          <a:xfrm>
            <a:off x="1160107" y="2984581"/>
            <a:ext cx="3005229" cy="166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sz="1400">
                <a:solidFill>
                  <a:srgbClr val="4D5358"/>
                </a:solidFill>
                <a:ea typeface="+mn-lt"/>
                <a:cs typeface="+mn-lt"/>
              </a:rPr>
              <a:t>Precisamos ser 100% específicos, não existe meio especificado ou gaps. </a:t>
            </a:r>
            <a:r>
              <a:rPr lang="pt-BR" sz="1400" dirty="0">
                <a:solidFill>
                  <a:srgbClr val="4D5358"/>
                </a:solidFill>
                <a:ea typeface="+mn-lt"/>
                <a:cs typeface="+mn-lt"/>
              </a:rPr>
              <a:t>Mais tempo planejando, refinando, definindo o problema e validando o resultado. Menos tempo escrevendo código. A entrega deixa de ser limitada pela digitação.</a:t>
            </a:r>
            <a:endParaRPr lang="pt-BR" sz="1400">
              <a:cs typeface="Arial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0205CD1F-CFB1-E269-129D-0B8BAD90EC31}"/>
              </a:ext>
            </a:extLst>
          </p:cNvPr>
          <p:cNvSpPr txBox="1"/>
          <p:nvPr/>
        </p:nvSpPr>
        <p:spPr>
          <a:xfrm>
            <a:off x="8549830" y="2603483"/>
            <a:ext cx="2872449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400" b="1">
                <a:solidFill>
                  <a:srgbClr val="1A1F24"/>
                </a:solidFill>
                <a:latin typeface="Arial"/>
                <a:cs typeface="Arial"/>
              </a:rPr>
              <a:t>QUALIDADE ENTRA ANTES</a:t>
            </a:r>
            <a:endParaRPr lang="pt-BR"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AE8606A5-AE56-DFAD-BAED-C3BABB0AA9D7}"/>
              </a:ext>
            </a:extLst>
          </p:cNvPr>
          <p:cNvSpPr txBox="1"/>
          <p:nvPr/>
        </p:nvSpPr>
        <p:spPr>
          <a:xfrm>
            <a:off x="8549830" y="3095194"/>
            <a:ext cx="2872449" cy="1428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sz="1400" dirty="0">
                <a:solidFill>
                  <a:srgbClr val="4D5358"/>
                </a:solidFill>
                <a:ea typeface="+mn-lt"/>
                <a:cs typeface="+mn-lt"/>
              </a:rPr>
              <a:t>O critério de aceite nasce testável no refinamento. O teste verifica o que o negócio pediu, com as mesmas palavras — sem tradução no meio. E </a:t>
            </a:r>
            <a:r>
              <a:rPr lang="pt-BR" sz="1400">
                <a:solidFill>
                  <a:srgbClr val="4D5358"/>
                </a:solidFill>
                <a:ea typeface="+mn-lt"/>
                <a:cs typeface="+mn-lt"/>
              </a:rPr>
              <a:t>regressivo em alterações futuras.</a:t>
            </a:r>
            <a:endParaRPr lang="pt-BR" sz="1400" dirty="0">
              <a:solidFill>
                <a:srgbClr val="4D5358"/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2C7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1500" b="1">
                <a:solidFill>
                  <a:srgbClr val="2C7E80"/>
                </a:solidFill>
                <a:latin typeface="Arial"/>
                <a:cs typeface="Arial"/>
              </a:rPr>
              <a:t>WORKFLOW</a:t>
            </a:r>
            <a:endParaRPr lang="pt-BR" sz="1500" b="1" dirty="0">
              <a:solidFill>
                <a:srgbClr val="2C7E8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800" b="1" dirty="0">
                <a:solidFill>
                  <a:srgbClr val="1A1F24"/>
                </a:solidFill>
                <a:latin typeface="Arial"/>
              </a:rPr>
              <a:t>Pipeline: </a:t>
            </a:r>
            <a:r>
              <a:rPr lang="pt-BR" sz="2800" b="1" dirty="0" err="1">
                <a:solidFill>
                  <a:srgbClr val="1A1F24"/>
                </a:solidFill>
                <a:latin typeface="Arial"/>
              </a:rPr>
              <a:t>Upstream</a:t>
            </a:r>
            <a:r>
              <a:rPr lang="pt-BR" sz="2800" b="1" dirty="0">
                <a:solidFill>
                  <a:srgbClr val="1A1F24"/>
                </a:solidFill>
                <a:latin typeface="Arial"/>
              </a:rPr>
              <a:t> e </a:t>
            </a:r>
            <a:r>
              <a:rPr lang="pt-BR" sz="2800" b="1" dirty="0" err="1">
                <a:solidFill>
                  <a:srgbClr val="1A1F24"/>
                </a:solidFill>
                <a:latin typeface="Arial"/>
              </a:rPr>
              <a:t>Downstream</a:t>
            </a:r>
            <a:r>
              <a:rPr lang="pt-BR" sz="2800" b="1" dirty="0">
                <a:solidFill>
                  <a:srgbClr val="1A1F24"/>
                </a:solidFill>
                <a:latin typeface="Arial"/>
              </a:rPr>
              <a:t> </a:t>
            </a:r>
            <a:endParaRPr lang="pt-BR" sz="2800" b="1" dirty="0">
              <a:solidFill>
                <a:srgbClr val="1A1F24"/>
              </a:solidFill>
              <a:cs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A00B18-B85A-7C55-30D8-A9C39589C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1478584"/>
            <a:ext cx="11346426" cy="52970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2C7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E3A038"/>
                </a:solidFill>
                <a:latin typeface="Arial"/>
              </a:rPr>
              <a:t>Tools &amp; Envolvidos</a:t>
            </a:r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896112" y="899405"/>
            <a:ext cx="10212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2800" b="1" dirty="0">
                <a:solidFill>
                  <a:srgbClr val="1F2328"/>
                </a:solidFill>
                <a:highlight>
                  <a:srgbClr val="FFFFFF"/>
                </a:highlight>
              </a:rPr>
              <a:t>Papéis, </a:t>
            </a:r>
            <a:r>
              <a:rPr lang="pt-BR" sz="2800" b="1" dirty="0" err="1">
                <a:solidFill>
                  <a:srgbClr val="1F2328"/>
                </a:solidFill>
                <a:highlight>
                  <a:srgbClr val="FFFFFF"/>
                </a:highlight>
              </a:rPr>
              <a:t>gates</a:t>
            </a:r>
            <a:r>
              <a:rPr lang="pt-BR" sz="2800" b="1" dirty="0">
                <a:solidFill>
                  <a:srgbClr val="1F2328"/>
                </a:solidFill>
                <a:highlight>
                  <a:srgbClr val="FFFFFF"/>
                </a:highlight>
              </a:rPr>
              <a:t> e ferramentas</a:t>
            </a:r>
            <a:endParaRPr lang="pt-BR" sz="2800" dirty="0">
              <a:cs typeface="Arial"/>
            </a:endParaRPr>
          </a:p>
        </p:txBody>
      </p:sp>
      <p:graphicFrame>
        <p:nvGraphicFramePr>
          <p:cNvPr id="90" name="Tabela Pape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304477"/>
              </p:ext>
            </p:extLst>
          </p:nvPr>
        </p:nvGraphicFramePr>
        <p:xfrm>
          <a:off x="786580" y="1602658"/>
          <a:ext cx="10350408" cy="4944630"/>
        </p:xfrm>
        <a:graphic>
          <a:graphicData uri="http://schemas.openxmlformats.org/drawingml/2006/table">
            <a:tbl>
              <a:tblPr firstRow="1" bandRow="1"/>
              <a:tblGrid>
                <a:gridCol w="2541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9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974">
                <a:tc>
                  <a:txBody>
                    <a:bodyPr/>
                    <a:lstStyle/>
                    <a:p>
                      <a:pPr algn="l"/>
                      <a:r>
                        <a:rPr lang="pt-BR" sz="1150" b="1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anchor="ctr">
                    <a:lnB w="6350" cap="flat">
                      <a:solidFill>
                        <a:srgbClr val="D6DCDE"/>
                      </a:solidFill>
                    </a:lnB>
                    <a:solidFill>
                      <a:srgbClr val="2C7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>
                          <a:solidFill>
                            <a:srgbClr val="FFFFFF"/>
                          </a:solidFill>
                          <a:latin typeface="Arial"/>
                        </a:rPr>
                        <a:t>Conduz</a:t>
                      </a:r>
                    </a:p>
                  </a:txBody>
                  <a:tcPr anchor="ctr">
                    <a:lnB w="6350" cap="flat">
                      <a:solidFill>
                        <a:srgbClr val="D6DCDE"/>
                      </a:solidFill>
                    </a:lnB>
                    <a:solidFill>
                      <a:srgbClr val="2C7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>
                          <a:solidFill>
                            <a:srgbClr val="FFFFFF"/>
                          </a:solidFill>
                          <a:latin typeface="Arial"/>
                        </a:rPr>
                        <a:t>Aprova</a:t>
                      </a:r>
                    </a:p>
                  </a:txBody>
                  <a:tcPr anchor="ctr">
                    <a:lnB w="6350" cap="flat">
                      <a:solidFill>
                        <a:srgbClr val="D6DCDE"/>
                      </a:solidFill>
                    </a:lnB>
                    <a:solidFill>
                      <a:srgbClr val="2C7E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>
                          <a:solidFill>
                            <a:srgbClr val="FFFFFF"/>
                          </a:solidFill>
                          <a:latin typeface="Arial"/>
                        </a:rPr>
                        <a:t>Ferramenta</a:t>
                      </a:r>
                    </a:p>
                  </a:txBody>
                  <a:tcPr anchor="ctr">
                    <a:lnB w="6350" cap="flat">
                      <a:solidFill>
                        <a:srgbClr val="D6DCDE"/>
                      </a:solidFill>
                    </a:lnB>
                    <a:solidFill>
                      <a:srgbClr val="2C7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1A1F24"/>
                          </a:solidFill>
                          <a:latin typeface="Arial"/>
                        </a:rPr>
                        <a:t>0 · Exploratório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Agente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Claude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Projects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e Cowork, GitHub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1A1F24"/>
                          </a:solidFill>
                          <a:latin typeface="Arial"/>
                        </a:rPr>
                        <a:t>1 · Refinamento de Negócio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Agente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Claude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Projects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e Cowork, GitHub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1A1F24"/>
                          </a:solidFill>
                          <a:latin typeface="Arial"/>
                        </a:rPr>
                        <a:t>2 · Design de Telas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>
                          <a:solidFill>
                            <a:srgbClr val="4D5358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Agente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Claude Design, GitHub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1A1F24"/>
                          </a:solidFill>
                          <a:latin typeface="Arial"/>
                        </a:rPr>
                        <a:t>3 · Quebra em Estórias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Skill valida prontidão,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aprova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Agente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Claude Cowork, GitHub,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Jira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1A1F24"/>
                          </a:solidFill>
                          <a:latin typeface="Arial"/>
                        </a:rPr>
                        <a:t>4 · Refinamento Técnico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>
                          <a:solidFill>
                            <a:srgbClr val="4D5358"/>
                          </a:solidFill>
                          <a:latin typeface="Arial"/>
                        </a:rPr>
                        <a:t>Desenvolvedor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>
                          <a:solidFill>
                            <a:srgbClr val="4D5358"/>
                          </a:solidFill>
                          <a:latin typeface="Arial"/>
                        </a:rPr>
                        <a:t>Conformidade da especificação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OpenSpec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skills próprias, Claude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Code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1A1F24"/>
                          </a:solidFill>
                          <a:latin typeface="Arial"/>
                        </a:rPr>
                        <a:t>5 · Implementação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>
                          <a:solidFill>
                            <a:srgbClr val="4D5358"/>
                          </a:solidFill>
                          <a:latin typeface="Arial"/>
                        </a:rPr>
                        <a:t>Desenvolvedor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>
                          <a:solidFill>
                            <a:srgbClr val="4D5358"/>
                          </a:solidFill>
                          <a:latin typeface="Arial"/>
                        </a:rPr>
                        <a:t>QA, com integração contínua verde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Claude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Code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com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Kotlin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Java, iOS, Android 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React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A1F24"/>
                          </a:solidFill>
                          <a:latin typeface="Arial"/>
                        </a:rPr>
                        <a:t>6 · </a:t>
                      </a:r>
                      <a:r>
                        <a:rPr lang="pt-BR" sz="1400" b="1" dirty="0" err="1">
                          <a:solidFill>
                            <a:srgbClr val="1A1F24"/>
                          </a:solidFill>
                          <a:latin typeface="Arial"/>
                        </a:rPr>
                        <a:t>Spec-Driven</a:t>
                      </a:r>
                      <a:r>
                        <a:rPr lang="pt-BR" sz="1400" b="1" dirty="0">
                          <a:solidFill>
                            <a:srgbClr val="1A1F24"/>
                          </a:solidFill>
                          <a:latin typeface="Arial"/>
                        </a:rPr>
                        <a:t> </a:t>
                      </a:r>
                      <a:r>
                        <a:rPr lang="pt-BR" sz="1400" b="1" dirty="0" err="1">
                          <a:solidFill>
                            <a:srgbClr val="1A1F24"/>
                          </a:solidFill>
                          <a:latin typeface="Arial"/>
                        </a:rPr>
                        <a:t>Testing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>
                          <a:solidFill>
                            <a:srgbClr val="4D5358"/>
                          </a:solidFill>
                          <a:latin typeface="Arial"/>
                        </a:rPr>
                        <a:t>QA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Conformidade da especificação 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TestSpec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Claude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Code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Simulador iOS e Android,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Playwright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teste de carga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470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1A1F24"/>
                          </a:solidFill>
                          <a:latin typeface="Arial"/>
                        </a:rPr>
                        <a:t>7 · Fechamento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>
                          <a:solidFill>
                            <a:srgbClr val="4D5358"/>
                          </a:solidFill>
                          <a:latin typeface="Arial"/>
                        </a:rPr>
                        <a:t>Desenvolvedor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Product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Owner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 e Tech Lead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GitHub,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Jira</a:t>
                      </a:r>
                      <a:r>
                        <a:rPr lang="pt-BR" sz="1200" b="0" dirty="0">
                          <a:solidFill>
                            <a:srgbClr val="4D5358"/>
                          </a:solidFill>
                          <a:latin typeface="Arial"/>
                        </a:rPr>
                        <a:t>, </a:t>
                      </a:r>
                      <a:r>
                        <a:rPr lang="pt-BR" sz="1200" b="0" dirty="0" err="1">
                          <a:solidFill>
                            <a:srgbClr val="4D5358"/>
                          </a:solidFill>
                          <a:latin typeface="Arial"/>
                        </a:rPr>
                        <a:t>Confluence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D6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6DC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>
            <a:extLst>
              <a:ext uri="{FF2B5EF4-FFF2-40B4-BE49-F238E27FC236}">
                <a16:creationId xmlns:a16="http://schemas.microsoft.com/office/drawing/2014/main" id="{12CF7129-B7AC-3231-E20B-6A300ED41234}"/>
              </a:ext>
            </a:extLst>
          </p:cNvPr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738ABEAA-2FA7-1FEF-4FD8-2CE961BFC4AB}"/>
              </a:ext>
            </a:extLst>
          </p:cNvPr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E3A038"/>
                </a:solidFill>
                <a:latin typeface="Arial"/>
              </a:rPr>
              <a:t>Entrega com valor agregado</a:t>
            </a:r>
            <a:endParaRPr lang="pt-BR"/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119EA424-3A59-7757-E93F-5CB7CD89734D}"/>
              </a:ext>
            </a:extLst>
          </p:cNvPr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800" b="1" dirty="0" err="1">
                <a:solidFill>
                  <a:srgbClr val="1A1F24"/>
                </a:solidFill>
                <a:latin typeface="Arial"/>
              </a:rPr>
              <a:t>Downstream</a:t>
            </a:r>
            <a:r>
              <a:rPr lang="pt-BR" sz="2800" b="1" dirty="0">
                <a:solidFill>
                  <a:srgbClr val="1A1F24"/>
                </a:solidFill>
                <a:latin typeface="Arial"/>
              </a:rPr>
              <a:t> com entregas </a:t>
            </a:r>
            <a:r>
              <a:rPr lang="pt-BR" sz="2800" b="1" dirty="0" err="1">
                <a:solidFill>
                  <a:srgbClr val="1A1F24"/>
                </a:solidFill>
                <a:latin typeface="Arial"/>
              </a:rPr>
              <a:t>End</a:t>
            </a:r>
            <a:r>
              <a:rPr lang="pt-BR" sz="2800" b="1" dirty="0">
                <a:solidFill>
                  <a:srgbClr val="1A1F24"/>
                </a:solidFill>
                <a:latin typeface="Arial"/>
              </a:rPr>
              <a:t> </a:t>
            </a:r>
            <a:r>
              <a:rPr lang="pt-BR" sz="2800" b="1" dirty="0" err="1">
                <a:solidFill>
                  <a:srgbClr val="1A1F24"/>
                </a:solidFill>
                <a:latin typeface="Arial"/>
              </a:rPr>
              <a:t>To</a:t>
            </a:r>
            <a:r>
              <a:rPr lang="pt-BR" sz="2800" b="1" dirty="0">
                <a:solidFill>
                  <a:srgbClr val="1A1F24"/>
                </a:solidFill>
                <a:latin typeface="Arial"/>
              </a:rPr>
              <a:t> </a:t>
            </a:r>
            <a:r>
              <a:rPr lang="pt-BR" sz="2800" b="1" dirty="0" err="1">
                <a:solidFill>
                  <a:srgbClr val="1A1F24"/>
                </a:solidFill>
                <a:latin typeface="Arial"/>
              </a:rPr>
              <a:t>End</a:t>
            </a:r>
            <a:endParaRPr sz="2800" b="1" dirty="0" err="1">
              <a:solidFill>
                <a:srgbClr val="1A1F24"/>
              </a:solidFill>
              <a:latin typeface="Arial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8D2D3B02-F243-6BD9-25C1-C5C77EEB5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9" y="2253842"/>
            <a:ext cx="11282517" cy="3658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 dirty="0" err="1">
                <a:solidFill>
                  <a:srgbClr val="E3A038"/>
                </a:solidFill>
                <a:latin typeface="Arial"/>
              </a:rPr>
              <a:t>Spec</a:t>
            </a:r>
            <a:r>
              <a:rPr lang="pt-BR" sz="1500" b="1" dirty="0">
                <a:solidFill>
                  <a:srgbClr val="E3A038"/>
                </a:solidFill>
                <a:latin typeface="Arial"/>
              </a:rPr>
              <a:t> </a:t>
            </a:r>
            <a:r>
              <a:rPr lang="pt-BR" sz="1500" b="1" dirty="0" err="1">
                <a:solidFill>
                  <a:srgbClr val="E3A038"/>
                </a:solidFill>
                <a:latin typeface="Arial"/>
              </a:rPr>
              <a:t>Driven</a:t>
            </a:r>
            <a:r>
              <a:rPr lang="pt-BR" sz="1500" b="1" dirty="0">
                <a:solidFill>
                  <a:srgbClr val="E3A038"/>
                </a:solidFill>
                <a:latin typeface="Arial"/>
              </a:rPr>
              <a:t> </a:t>
            </a:r>
            <a:r>
              <a:rPr lang="pt-BR" sz="1500" b="1" dirty="0" err="1">
                <a:solidFill>
                  <a:srgbClr val="E3A038"/>
                </a:solidFill>
                <a:latin typeface="Arial"/>
              </a:rPr>
              <a:t>Testing</a:t>
            </a:r>
            <a:r>
              <a:rPr lang="pt-BR" sz="1500" b="1" dirty="0">
                <a:solidFill>
                  <a:srgbClr val="E3A038"/>
                </a:solidFill>
                <a:latin typeface="Arial"/>
              </a:rPr>
              <a:t> &amp; </a:t>
            </a:r>
            <a:r>
              <a:rPr lang="pt-BR" sz="1500" b="1" dirty="0" err="1">
                <a:solidFill>
                  <a:srgbClr val="E3A038"/>
                </a:solidFill>
                <a:latin typeface="Arial"/>
              </a:rPr>
              <a:t>Testspec</a:t>
            </a:r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800" b="1">
                <a:solidFill>
                  <a:srgbClr val="1A1F24"/>
                </a:solidFill>
                <a:latin typeface="Arial"/>
                <a:cs typeface="Arial"/>
              </a:rPr>
              <a:t>Garantindo a qualidade na etapa de testes</a:t>
            </a:r>
            <a:endParaRPr lang="pt-BR"/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dirty="0" err="1">
                <a:solidFill>
                  <a:srgbClr val="767C82"/>
                </a:solidFill>
                <a:latin typeface="Arial"/>
              </a:rPr>
              <a:t>Aprendizados</a:t>
            </a:r>
            <a:r>
              <a:rPr sz="900" b="0" dirty="0">
                <a:solidFill>
                  <a:srgbClr val="767C82"/>
                </a:solidFill>
                <a:latin typeface="Arial"/>
              </a:rPr>
              <a:t> e </a:t>
            </a:r>
            <a:r>
              <a:rPr sz="900" b="0" dirty="0" err="1">
                <a:solidFill>
                  <a:srgbClr val="767C82"/>
                </a:solidFill>
                <a:latin typeface="Arial"/>
              </a:rPr>
              <a:t>pontos</a:t>
            </a:r>
            <a:r>
              <a:rPr sz="900" b="0" dirty="0">
                <a:solidFill>
                  <a:srgbClr val="767C82"/>
                </a:solidFill>
                <a:latin typeface="Arial"/>
              </a:rPr>
              <a:t> de </a:t>
            </a:r>
            <a:r>
              <a:rPr sz="900" b="0" dirty="0" err="1">
                <a:solidFill>
                  <a:srgbClr val="767C82"/>
                </a:solidFill>
                <a:latin typeface="Arial"/>
              </a:rPr>
              <a:t>atenção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49B62DA-E34B-CC1B-E9CD-43CF468F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4" y="2808651"/>
            <a:ext cx="12019936" cy="288760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24C712E2-9130-5072-386C-1E188ACF6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9" b="-341"/>
          <a:stretch>
            <a:fillRect/>
          </a:stretch>
        </p:blipFill>
        <p:spPr>
          <a:xfrm>
            <a:off x="9816588" y="88337"/>
            <a:ext cx="2238673" cy="19323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E3A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E3A038"/>
                </a:solidFill>
                <a:latin typeface="Arial"/>
              </a:rPr>
              <a:t>TEMPO SE DESLOCA</a:t>
            </a:r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800" b="1">
                <a:solidFill>
                  <a:srgbClr val="1A1F24"/>
                </a:solidFill>
                <a:latin typeface="Arial"/>
              </a:rPr>
              <a:t>Menos tempo no código mais tempo planejando e testando</a:t>
            </a:r>
            <a:endParaRPr lang="pt-BR"/>
          </a:p>
        </p:txBody>
      </p:sp>
      <p:sp>
        <p:nvSpPr>
          <p:cNvPr id="5" name="Rounded Rectangle 4"/>
          <p:cNvSpPr/>
          <p:nvPr/>
        </p:nvSpPr>
        <p:spPr>
          <a:xfrm>
            <a:off x="901027" y="1711795"/>
            <a:ext cx="5023055" cy="4803302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1028" y="1717941"/>
            <a:ext cx="5023055" cy="263357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8141" y="2105330"/>
            <a:ext cx="4480560" cy="272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b="1" dirty="0" err="1">
                <a:solidFill>
                  <a:srgbClr val="1A1F24"/>
                </a:solidFill>
                <a:latin typeface="Arial"/>
              </a:rPr>
              <a:t>Upstream</a:t>
            </a:r>
            <a:r>
              <a:rPr lang="pt-BR" b="1" dirty="0">
                <a:solidFill>
                  <a:srgbClr val="1A1F24"/>
                </a:solidFill>
                <a:latin typeface="Arial"/>
              </a:rPr>
              <a:t> é a chave do fluxo</a:t>
            </a:r>
            <a:endParaRPr lang="pt-BR" b="1">
              <a:solidFill>
                <a:srgbClr val="1A1F24"/>
              </a:solidFill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7417" y="2564844"/>
            <a:ext cx="4615752" cy="3904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sz="1400" dirty="0">
                <a:solidFill>
                  <a:srgbClr val="4D5358"/>
                </a:solidFill>
                <a:cs typeface="Arial"/>
              </a:rPr>
              <a:t>O planejamento e condução é toda do </a:t>
            </a:r>
            <a:r>
              <a:rPr lang="pt-BR" sz="1400" err="1">
                <a:solidFill>
                  <a:srgbClr val="4D5358"/>
                </a:solidFill>
                <a:cs typeface="Arial"/>
              </a:rPr>
              <a:t>Product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</a:t>
            </a:r>
            <a:r>
              <a:rPr lang="pt-BR" sz="1400" err="1">
                <a:solidFill>
                  <a:srgbClr val="4D5358"/>
                </a:solidFill>
                <a:cs typeface="Arial"/>
              </a:rPr>
              <a:t>Owner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, até etapas exploratória como pesquisa de mercado, métricas e </a:t>
            </a:r>
            <a:r>
              <a:rPr lang="pt-BR" sz="1400" err="1">
                <a:solidFill>
                  <a:srgbClr val="4D5358"/>
                </a:solidFill>
                <a:cs typeface="Arial"/>
              </a:rPr>
              <a:t>OKRs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sobre a entrega, fluxo telas e </a:t>
            </a:r>
            <a:r>
              <a:rPr lang="pt-BR" sz="1400" err="1">
                <a:solidFill>
                  <a:srgbClr val="4D5358"/>
                </a:solidFill>
                <a:cs typeface="Arial"/>
              </a:rPr>
              <a:t>usuabilidade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criados no Claude Design. </a:t>
            </a:r>
            <a:endParaRPr lang="pt-BR"/>
          </a:p>
          <a:p>
            <a:pPr>
              <a:lnSpc>
                <a:spcPct val="112000"/>
              </a:lnSpc>
              <a:spcAft>
                <a:spcPts val="600"/>
              </a:spcAft>
            </a:pPr>
            <a:br>
              <a:rPr lang="pt-BR" sz="1400" dirty="0">
                <a:cs typeface="Arial"/>
              </a:rPr>
            </a:br>
            <a:r>
              <a:rPr lang="pt-BR" sz="1400" dirty="0">
                <a:solidFill>
                  <a:srgbClr val="4D5358"/>
                </a:solidFill>
                <a:cs typeface="Arial"/>
              </a:rPr>
              <a:t>Nessa etapa é muito importante diferenciar o que é ter algo bem definido da metodologia </a:t>
            </a:r>
            <a:r>
              <a:rPr lang="pt-BR" sz="1400" dirty="0" err="1">
                <a:solidFill>
                  <a:srgbClr val="4D5358"/>
                </a:solidFill>
                <a:cs typeface="Arial"/>
              </a:rPr>
              <a:t>Waterfall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. Precisamos ter Estórias bem definidas, com critérios de aceite claros, tanto para a implementação e a validação dos testes para que o esperado seja atingido, com isso conseguimos garantir produtividade e qualidade.</a:t>
            </a:r>
            <a:endParaRPr lang="pt-BR"/>
          </a:p>
          <a:p>
            <a:pPr>
              <a:lnSpc>
                <a:spcPct val="112000"/>
              </a:lnSpc>
              <a:spcAft>
                <a:spcPts val="600"/>
              </a:spcAft>
            </a:pPr>
            <a:endParaRPr lang="pt-BR" sz="1400" dirty="0">
              <a:solidFill>
                <a:srgbClr val="4D5358"/>
              </a:solidFill>
              <a:cs typeface="Arial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sz="1400" dirty="0" err="1">
                <a:solidFill>
                  <a:srgbClr val="4D5358"/>
                </a:solidFill>
                <a:cs typeface="Arial"/>
              </a:rPr>
              <a:t>PRDs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e artefatos são </a:t>
            </a:r>
            <a:r>
              <a:rPr lang="pt-BR" sz="1400" dirty="0" err="1">
                <a:solidFill>
                  <a:srgbClr val="4D5358"/>
                </a:solidFill>
                <a:cs typeface="Arial"/>
              </a:rPr>
              <a:t>matidos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no github como fonte da verdade, </a:t>
            </a:r>
            <a:r>
              <a:rPr lang="pt-BR" sz="1400" dirty="0" err="1">
                <a:solidFill>
                  <a:srgbClr val="4D5358"/>
                </a:solidFill>
                <a:cs typeface="Arial"/>
              </a:rPr>
              <a:t>POs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nessa etapa dividirão a responsabilidade de manter as </a:t>
            </a:r>
            <a:r>
              <a:rPr lang="pt-BR" sz="1400" dirty="0" err="1">
                <a:solidFill>
                  <a:srgbClr val="4D5358"/>
                </a:solidFill>
                <a:cs typeface="Arial"/>
              </a:rPr>
              <a:t>specs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com o time técnico.</a:t>
            </a:r>
            <a:endParaRPr lang="pt-BR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5A5BC019-78DF-F2B7-F96D-1A990CAA9337}"/>
              </a:ext>
            </a:extLst>
          </p:cNvPr>
          <p:cNvSpPr/>
          <p:nvPr/>
        </p:nvSpPr>
        <p:spPr>
          <a:xfrm>
            <a:off x="6235026" y="1724084"/>
            <a:ext cx="5029200" cy="4791012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C5EE8B42-640D-6CC6-3068-FE5A84A01358}"/>
              </a:ext>
            </a:extLst>
          </p:cNvPr>
          <p:cNvSpPr txBox="1"/>
          <p:nvPr/>
        </p:nvSpPr>
        <p:spPr>
          <a:xfrm>
            <a:off x="6504430" y="2105330"/>
            <a:ext cx="4480560" cy="272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b="1">
                <a:solidFill>
                  <a:srgbClr val="1A1F24"/>
                </a:solidFill>
                <a:latin typeface="Arial"/>
              </a:rPr>
              <a:t>Validação após a implementação</a:t>
            </a:r>
            <a:endParaRPr lang="pt-BR"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694F35F0-C614-4A0F-E017-5159D4ED66F7}"/>
              </a:ext>
            </a:extLst>
          </p:cNvPr>
          <p:cNvSpPr txBox="1"/>
          <p:nvPr/>
        </p:nvSpPr>
        <p:spPr>
          <a:xfrm>
            <a:off x="6529011" y="2564840"/>
            <a:ext cx="4455979" cy="3358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pt-BR" sz="1400" dirty="0">
                <a:solidFill>
                  <a:srgbClr val="4D5358"/>
                </a:solidFill>
                <a:cs typeface="Arial"/>
              </a:rPr>
              <a:t>Automatizar os testes é o segundo ponto mais importante, com as especificações de regras de negócio, usabilidade e requisitos não técnicos bem definidos, o desenvolvimento do código é realizado de maneira ágil e com </a:t>
            </a:r>
            <a:r>
              <a:rPr lang="pt-BR" sz="1400" err="1">
                <a:solidFill>
                  <a:srgbClr val="4D5358"/>
                </a:solidFill>
                <a:cs typeface="Arial"/>
              </a:rPr>
              <a:t>Guardrails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no desenvolvimento parte da qualidade já é garantida nessa etapa. </a:t>
            </a:r>
            <a:br>
              <a:rPr lang="pt-BR" sz="1400" dirty="0">
                <a:cs typeface="Arial"/>
              </a:rPr>
            </a:br>
            <a:br>
              <a:rPr lang="pt-BR" sz="1400" dirty="0">
                <a:cs typeface="Arial"/>
              </a:rPr>
            </a:br>
            <a:r>
              <a:rPr lang="pt-BR" sz="1400" dirty="0">
                <a:solidFill>
                  <a:srgbClr val="4D5358"/>
                </a:solidFill>
                <a:cs typeface="Arial"/>
              </a:rPr>
              <a:t>O segundo ponto dos testes, são os testes </a:t>
            </a:r>
            <a:r>
              <a:rPr lang="pt-BR" sz="1400" err="1">
                <a:solidFill>
                  <a:srgbClr val="4D5358"/>
                </a:solidFill>
                <a:cs typeface="Arial"/>
              </a:rPr>
              <a:t>end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</a:t>
            </a:r>
            <a:r>
              <a:rPr lang="pt-BR" sz="1400" err="1">
                <a:solidFill>
                  <a:srgbClr val="4D5358"/>
                </a:solidFill>
                <a:cs typeface="Arial"/>
              </a:rPr>
              <a:t>to</a:t>
            </a:r>
            <a:r>
              <a:rPr lang="pt-BR" sz="1400" dirty="0">
                <a:solidFill>
                  <a:srgbClr val="4D5358"/>
                </a:solidFill>
                <a:cs typeface="Arial"/>
              </a:rPr>
              <a:t> end. Parte dos testes já são especificados e desenvolvidos na etapa de implementação, essas especificações são utilizadas para criar um workflow de testes com código automa</a:t>
            </a:r>
            <a:r>
              <a:rPr lang="pt-BR" sz="1400" dirty="0">
                <a:solidFill>
                  <a:srgbClr val="4D5358"/>
                </a:solidFill>
                <a:latin typeface="Arial"/>
                <a:cs typeface="Arial"/>
              </a:rPr>
              <a:t>tizados e podem ser executados sempre, nessa etapa são desenvolvidos skills e agentes validar critério </a:t>
            </a:r>
            <a:r>
              <a:rPr lang="pt-BR" sz="1400">
                <a:solidFill>
                  <a:srgbClr val="4D5358"/>
                </a:solidFill>
                <a:latin typeface="Arial"/>
                <a:cs typeface="Arial"/>
              </a:rPr>
              <a:t>de aceite dos produto</a:t>
            </a:r>
            <a:endParaRPr lang="pt-BR" sz="1400" dirty="0">
              <a:solidFill>
                <a:srgbClr val="4D5358"/>
              </a:solidFill>
              <a:cs typeface="Arial"/>
            </a:endParaRP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29CAE6E4-6994-D954-4DF3-69B6F9572274}"/>
              </a:ext>
            </a:extLst>
          </p:cNvPr>
          <p:cNvSpPr/>
          <p:nvPr/>
        </p:nvSpPr>
        <p:spPr>
          <a:xfrm>
            <a:off x="6237830" y="1718186"/>
            <a:ext cx="5029200" cy="251066"/>
          </a:xfrm>
          <a:prstGeom prst="rect">
            <a:avLst/>
          </a:prstGeom>
          <a:solidFill>
            <a:srgbClr val="8E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1B109-1F80-3A63-2BED-D0899E2F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B2F3E1-FA79-CAC4-C50F-4ED3DFB455A7}"/>
              </a:ext>
            </a:extLst>
          </p:cNvPr>
          <p:cNvSpPr/>
          <p:nvPr/>
        </p:nvSpPr>
        <p:spPr>
          <a:xfrm>
            <a:off x="640080" y="548640"/>
            <a:ext cx="146304" cy="384048"/>
          </a:xfrm>
          <a:prstGeom prst="rect">
            <a:avLst/>
          </a:prstGeom>
          <a:solidFill>
            <a:srgbClr val="2C7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18F7C-900B-B987-DCB0-AE1D7494BCB8}"/>
              </a:ext>
            </a:extLst>
          </p:cNvPr>
          <p:cNvSpPr txBox="1"/>
          <p:nvPr/>
        </p:nvSpPr>
        <p:spPr>
          <a:xfrm>
            <a:off x="896112" y="502920"/>
            <a:ext cx="10058400" cy="227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500" b="1">
                <a:solidFill>
                  <a:srgbClr val="2C7E80"/>
                </a:solidFill>
                <a:latin typeface="Arial"/>
                <a:cs typeface="Arial"/>
              </a:rPr>
              <a:t>Responsabilidades &amp; Desafios</a:t>
            </a:r>
            <a:endParaRPr lang="pt-BR" sz="1500" b="1" dirty="0">
              <a:solidFill>
                <a:srgbClr val="2C7E80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6D16-3A62-EF40-5300-256F4202974B}"/>
              </a:ext>
            </a:extLst>
          </p:cNvPr>
          <p:cNvSpPr txBox="1"/>
          <p:nvPr/>
        </p:nvSpPr>
        <p:spPr>
          <a:xfrm>
            <a:off x="896112" y="868680"/>
            <a:ext cx="10789920" cy="424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800" b="1">
                <a:solidFill>
                  <a:srgbClr val="1A1F24"/>
                </a:solidFill>
                <a:latin typeface="Arial"/>
              </a:rPr>
              <a:t>Responsabilidades</a:t>
            </a:r>
            <a:endParaRPr lang="pt-BR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CF4111F-D825-FA09-9889-A20AA752F7E1}"/>
              </a:ext>
            </a:extLst>
          </p:cNvPr>
          <p:cNvSpPr/>
          <p:nvPr/>
        </p:nvSpPr>
        <p:spPr>
          <a:xfrm>
            <a:off x="896112" y="1591350"/>
            <a:ext cx="2449944" cy="1411175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4CEA9C8-FE9F-F31C-F3ED-3026D5F5D4DD}"/>
              </a:ext>
            </a:extLst>
          </p:cNvPr>
          <p:cNvSpPr/>
          <p:nvPr/>
        </p:nvSpPr>
        <p:spPr>
          <a:xfrm>
            <a:off x="896112" y="1591350"/>
            <a:ext cx="2449944" cy="183469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B8DAB2D9-4AE5-516D-A1C3-451C69B22580}"/>
              </a:ext>
            </a:extLst>
          </p:cNvPr>
          <p:cNvSpPr/>
          <p:nvPr/>
        </p:nvSpPr>
        <p:spPr>
          <a:xfrm>
            <a:off x="3546056" y="1591350"/>
            <a:ext cx="2449944" cy="1411175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0BA74F00-C433-8606-1640-D7F0204360BB}"/>
              </a:ext>
            </a:extLst>
          </p:cNvPr>
          <p:cNvSpPr txBox="1"/>
          <p:nvPr/>
        </p:nvSpPr>
        <p:spPr>
          <a:xfrm>
            <a:off x="3686056" y="2021350"/>
            <a:ext cx="216994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dirty="0">
                <a:solidFill>
                  <a:srgbClr val="1A1F24"/>
                </a:solidFill>
                <a:latin typeface="Arial"/>
              </a:rPr>
              <a:t>Nunca </a:t>
            </a:r>
            <a:r>
              <a:rPr lang="pt-BR">
                <a:solidFill>
                  <a:srgbClr val="1A1F24"/>
                </a:solidFill>
                <a:latin typeface="Arial"/>
              </a:rPr>
              <a:t>terceirize</a:t>
            </a:r>
            <a:r>
              <a:rPr lang="pt-BR" dirty="0">
                <a:solidFill>
                  <a:srgbClr val="1A1F24"/>
                </a:solidFill>
                <a:latin typeface="Arial"/>
              </a:rPr>
              <a:t> suas </a:t>
            </a:r>
            <a:r>
              <a:rPr lang="pt-BR" dirty="0">
                <a:solidFill>
                  <a:srgbClr val="1A1F24"/>
                </a:solidFill>
                <a:ea typeface="+mn-lt"/>
                <a:cs typeface="+mn-lt"/>
              </a:rPr>
              <a:t>decisões</a:t>
            </a:r>
            <a:endParaRPr lang="pt-BR">
              <a:cs typeface="Arial"/>
            </a:endParaRP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1298DD01-A616-F950-7CDE-4709F9D38024}"/>
              </a:ext>
            </a:extLst>
          </p:cNvPr>
          <p:cNvSpPr/>
          <p:nvPr/>
        </p:nvSpPr>
        <p:spPr>
          <a:xfrm>
            <a:off x="3546056" y="1591350"/>
            <a:ext cx="2449944" cy="183469"/>
          </a:xfrm>
          <a:prstGeom prst="rect">
            <a:avLst/>
          </a:prstGeom>
          <a:solidFill>
            <a:srgbClr val="8E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CC70B75E-A879-C956-88DB-216EB3608229}"/>
              </a:ext>
            </a:extLst>
          </p:cNvPr>
          <p:cNvSpPr txBox="1"/>
          <p:nvPr/>
        </p:nvSpPr>
        <p:spPr>
          <a:xfrm>
            <a:off x="1036112" y="2021350"/>
            <a:ext cx="216994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>
                <a:solidFill>
                  <a:srgbClr val="1A1F24"/>
                </a:solidFill>
                <a:latin typeface="Arial"/>
              </a:rPr>
              <a:t>Você conduz. A IA produz.</a:t>
            </a:r>
            <a:endParaRPr lang="pt-BR">
              <a:cs typeface="Arial"/>
            </a:endParaRPr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96588CC3-6692-D31B-AC9A-AEBB5245C563}"/>
              </a:ext>
            </a:extLst>
          </p:cNvPr>
          <p:cNvSpPr/>
          <p:nvPr/>
        </p:nvSpPr>
        <p:spPr>
          <a:xfrm>
            <a:off x="6196000" y="1591350"/>
            <a:ext cx="2449944" cy="1411175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9D985F71-8604-5114-1F88-1A3DD87A746C}"/>
              </a:ext>
            </a:extLst>
          </p:cNvPr>
          <p:cNvSpPr txBox="1"/>
          <p:nvPr/>
        </p:nvSpPr>
        <p:spPr>
          <a:xfrm>
            <a:off x="6336000" y="2021350"/>
            <a:ext cx="2169944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>
                <a:solidFill>
                  <a:srgbClr val="1A1F24"/>
                </a:solidFill>
                <a:latin typeface="Arial"/>
              </a:rPr>
              <a:t>Aprovar</a:t>
            </a:r>
            <a:r>
              <a:rPr lang="pt-BR" dirty="0">
                <a:solidFill>
                  <a:srgbClr val="1A1F24"/>
                </a:solidFill>
                <a:ea typeface="+mn-lt"/>
                <a:cs typeface="+mn-lt"/>
              </a:rPr>
              <a:t> sem ler é assinar em branco.</a:t>
            </a:r>
            <a:endParaRPr lang="pt-BR">
              <a:cs typeface="Arial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C3907991-D7DB-037C-E37A-EBC9A7EE8315}"/>
              </a:ext>
            </a:extLst>
          </p:cNvPr>
          <p:cNvSpPr/>
          <p:nvPr/>
        </p:nvSpPr>
        <p:spPr>
          <a:xfrm>
            <a:off x="6196000" y="1591350"/>
            <a:ext cx="2449944" cy="18346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E20C30F6-284E-87C8-5A58-198FAB11C818}"/>
              </a:ext>
            </a:extLst>
          </p:cNvPr>
          <p:cNvSpPr/>
          <p:nvPr/>
        </p:nvSpPr>
        <p:spPr>
          <a:xfrm>
            <a:off x="886280" y="4091199"/>
            <a:ext cx="5069888" cy="1713518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E54AE8AF-6EB3-9909-FF8A-B956D2CB5D3B}"/>
              </a:ext>
            </a:extLst>
          </p:cNvPr>
          <p:cNvSpPr txBox="1"/>
          <p:nvPr/>
        </p:nvSpPr>
        <p:spPr>
          <a:xfrm>
            <a:off x="1046280" y="4471199"/>
            <a:ext cx="4749888" cy="1286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600" dirty="0">
                <a:solidFill>
                  <a:srgbClr val="1A1F24"/>
                </a:solidFill>
                <a:latin typeface="Arial"/>
              </a:rPr>
              <a:t>Profissional deverá manter o conhecimento do todo, incluindo ferramentas e métodos. </a:t>
            </a:r>
            <a:r>
              <a:rPr lang="pt-BR" sz="1600" dirty="0" err="1">
                <a:solidFill>
                  <a:srgbClr val="1A1F24"/>
                </a:solidFill>
                <a:latin typeface="Arial"/>
              </a:rPr>
              <a:t>Product</a:t>
            </a:r>
            <a:r>
              <a:rPr lang="pt-BR" sz="1600" dirty="0">
                <a:solidFill>
                  <a:srgbClr val="1A1F24"/>
                </a:solidFill>
                <a:latin typeface="Arial"/>
              </a:rPr>
              <a:t> </a:t>
            </a:r>
            <a:r>
              <a:rPr lang="pt-BR" sz="1600" dirty="0" err="1">
                <a:solidFill>
                  <a:srgbClr val="1A1F24"/>
                </a:solidFill>
                <a:latin typeface="Arial"/>
              </a:rPr>
              <a:t>Ow</a:t>
            </a:r>
            <a:r>
              <a:rPr lang="pt-BR" sz="1600" dirty="0" err="1">
                <a:solidFill>
                  <a:srgbClr val="1A1F24"/>
                </a:solidFill>
                <a:cs typeface="Arial"/>
              </a:rPr>
              <a:t>ner</a:t>
            </a:r>
            <a:r>
              <a:rPr lang="pt-BR" sz="1600" dirty="0">
                <a:solidFill>
                  <a:srgbClr val="1A1F24"/>
                </a:solidFill>
                <a:latin typeface="Arial"/>
              </a:rPr>
              <a:t> é responsável pelo exploratório, refinamento e design. </a:t>
            </a:r>
            <a:endParaRPr lang="pt-BR" sz="1600" dirty="0">
              <a:solidFill>
                <a:srgbClr val="1A1F24"/>
              </a:solidFill>
              <a:cs typeface="Arial"/>
            </a:endParaRPr>
          </a:p>
        </p:txBody>
      </p:sp>
      <p:sp>
        <p:nvSpPr>
          <p:cNvPr id="34" name="Rectangle 17">
            <a:extLst>
              <a:ext uri="{FF2B5EF4-FFF2-40B4-BE49-F238E27FC236}">
                <a16:creationId xmlns:a16="http://schemas.microsoft.com/office/drawing/2014/main" id="{DCA11BAF-5B30-E443-02BD-F71402141B53}"/>
              </a:ext>
            </a:extLst>
          </p:cNvPr>
          <p:cNvSpPr/>
          <p:nvPr/>
        </p:nvSpPr>
        <p:spPr>
          <a:xfrm>
            <a:off x="886280" y="4091199"/>
            <a:ext cx="5069888" cy="183469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8D6CF13D-ED41-8D56-4003-028396491D44}"/>
              </a:ext>
            </a:extLst>
          </p:cNvPr>
          <p:cNvSpPr/>
          <p:nvPr/>
        </p:nvSpPr>
        <p:spPr>
          <a:xfrm>
            <a:off x="6216168" y="4091199"/>
            <a:ext cx="5069888" cy="1713518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EEB63BBD-4113-64A3-AC36-69FEBBF51263}"/>
              </a:ext>
            </a:extLst>
          </p:cNvPr>
          <p:cNvSpPr txBox="1"/>
          <p:nvPr/>
        </p:nvSpPr>
        <p:spPr>
          <a:xfrm>
            <a:off x="6376168" y="4471199"/>
            <a:ext cx="4749888" cy="1102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600" dirty="0">
                <a:solidFill>
                  <a:srgbClr val="1A1F24"/>
                </a:solidFill>
                <a:cs typeface="Arial"/>
              </a:rPr>
              <a:t>Desenvolvedor será praticamente um </a:t>
            </a:r>
            <a:r>
              <a:rPr lang="pt-BR" sz="1600">
                <a:solidFill>
                  <a:srgbClr val="1A1F24"/>
                </a:solidFill>
                <a:cs typeface="Arial"/>
              </a:rPr>
              <a:t>fullstack, e muito focado nos testes, apoiando o QA. 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1600">
                <a:solidFill>
                  <a:srgbClr val="1A1F24"/>
                </a:solidFill>
                <a:cs typeface="Arial"/>
              </a:rPr>
              <a:t>Outro grande desafio é agregar valor ao antigo, </a:t>
            </a:r>
            <a:r>
              <a:rPr lang="pt-BR" sz="1600" dirty="0">
                <a:solidFill>
                  <a:srgbClr val="1A1F24"/>
                </a:solidFill>
                <a:cs typeface="Arial"/>
              </a:rPr>
              <a:t>código novo no legado antigo.</a:t>
            </a:r>
          </a:p>
        </p:txBody>
      </p:sp>
      <p:sp>
        <p:nvSpPr>
          <p:cNvPr id="37" name="Rectangle 17">
            <a:extLst>
              <a:ext uri="{FF2B5EF4-FFF2-40B4-BE49-F238E27FC236}">
                <a16:creationId xmlns:a16="http://schemas.microsoft.com/office/drawing/2014/main" id="{021210C3-F4F1-A844-23C7-C1B7698CF448}"/>
              </a:ext>
            </a:extLst>
          </p:cNvPr>
          <p:cNvSpPr/>
          <p:nvPr/>
        </p:nvSpPr>
        <p:spPr>
          <a:xfrm>
            <a:off x="6216168" y="4091199"/>
            <a:ext cx="5069888" cy="183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A2AF6477-FA2C-C280-D3EE-181EC0098048}"/>
              </a:ext>
            </a:extLst>
          </p:cNvPr>
          <p:cNvSpPr txBox="1"/>
          <p:nvPr/>
        </p:nvSpPr>
        <p:spPr>
          <a:xfrm>
            <a:off x="920692" y="3429982"/>
            <a:ext cx="10789920" cy="363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sz="2400" b="1">
                <a:solidFill>
                  <a:srgbClr val="1A1F24"/>
                </a:solidFill>
                <a:latin typeface="Arial"/>
              </a:rPr>
              <a:t>Desafios</a:t>
            </a:r>
            <a:endParaRPr lang="pt-BR" sz="2400"/>
          </a:p>
        </p:txBody>
      </p:sp>
      <p:sp>
        <p:nvSpPr>
          <p:cNvPr id="39" name="Rounded Rectangle 4">
            <a:extLst>
              <a:ext uri="{FF2B5EF4-FFF2-40B4-BE49-F238E27FC236}">
                <a16:creationId xmlns:a16="http://schemas.microsoft.com/office/drawing/2014/main" id="{9CFDBEF9-F021-16EF-6570-D31BC4852418}"/>
              </a:ext>
            </a:extLst>
          </p:cNvPr>
          <p:cNvSpPr/>
          <p:nvPr/>
        </p:nvSpPr>
        <p:spPr>
          <a:xfrm>
            <a:off x="8845944" y="1591350"/>
            <a:ext cx="2449944" cy="1411175"/>
          </a:xfrm>
          <a:prstGeom prst="roundRect">
            <a:avLst/>
          </a:prstGeom>
          <a:solidFill>
            <a:srgbClr val="F2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6">
            <a:extLst>
              <a:ext uri="{FF2B5EF4-FFF2-40B4-BE49-F238E27FC236}">
                <a16:creationId xmlns:a16="http://schemas.microsoft.com/office/drawing/2014/main" id="{C8029D60-BF5E-A26C-D87B-391140E72E1A}"/>
              </a:ext>
            </a:extLst>
          </p:cNvPr>
          <p:cNvSpPr txBox="1"/>
          <p:nvPr/>
        </p:nvSpPr>
        <p:spPr>
          <a:xfrm>
            <a:off x="8985944" y="2021350"/>
            <a:ext cx="2169944" cy="566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lang="pt-BR" dirty="0">
                <a:solidFill>
                  <a:srgbClr val="1A1F24"/>
                </a:solidFill>
                <a:cs typeface="Arial"/>
              </a:rPr>
              <a:t>Deu certo foi você, deu errado tam</a:t>
            </a:r>
            <a:r>
              <a:rPr lang="pt-BR">
                <a:solidFill>
                  <a:srgbClr val="1A1F24"/>
                </a:solidFill>
                <a:cs typeface="Arial"/>
              </a:rPr>
              <a:t>bém.</a:t>
            </a:r>
            <a:endParaRPr lang="pt-BR" dirty="0">
              <a:solidFill>
                <a:srgbClr val="1A1F24"/>
              </a:solidFill>
              <a:cs typeface="Arial"/>
            </a:endParaRPr>
          </a:p>
        </p:txBody>
      </p:sp>
      <p:sp>
        <p:nvSpPr>
          <p:cNvPr id="41" name="Rectangle 17">
            <a:extLst>
              <a:ext uri="{FF2B5EF4-FFF2-40B4-BE49-F238E27FC236}">
                <a16:creationId xmlns:a16="http://schemas.microsoft.com/office/drawing/2014/main" id="{1067598C-C407-DB81-96A3-ED783F22D4FB}"/>
              </a:ext>
            </a:extLst>
          </p:cNvPr>
          <p:cNvSpPr/>
          <p:nvPr/>
        </p:nvSpPr>
        <p:spPr>
          <a:xfrm>
            <a:off x="8845944" y="1591350"/>
            <a:ext cx="2449944" cy="18346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8509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s_Institucionais_Tema03">
  <a:themeElements>
    <a:clrScheme name="PagSeguro PagBank">
      <a:dk1>
        <a:srgbClr val="000000"/>
      </a:dk1>
      <a:lt1>
        <a:srgbClr val="FFFFFF"/>
      </a:lt1>
      <a:dk2>
        <a:srgbClr val="656767"/>
      </a:dk2>
      <a:lt2>
        <a:srgbClr val="E7E6E6"/>
      </a:lt2>
      <a:accent1>
        <a:srgbClr val="9ED5D6"/>
      </a:accent1>
      <a:accent2>
        <a:srgbClr val="FFE72C"/>
      </a:accent2>
      <a:accent3>
        <a:srgbClr val="D3E167"/>
      </a:accent3>
      <a:accent4>
        <a:srgbClr val="E3A038"/>
      </a:accent4>
      <a:accent5>
        <a:srgbClr val="8EB74F"/>
      </a:accent5>
      <a:accent6>
        <a:srgbClr val="D36D6E"/>
      </a:accent6>
      <a:hlink>
        <a:srgbClr val="45559C"/>
      </a:hlink>
      <a:folHlink>
        <a:srgbClr val="8E5BA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s_Institucionais_Tema03" id="{2395E7E2-D369-B948-B127-86C981E302FD}" vid="{8709129A-E169-8D40-87DF-28AAD41CB44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8d674a8-5624-47b0-93a3-d7e194eb60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815BF274F90A47AC3B654A188E5480" ma:contentTypeVersion="16" ma:contentTypeDescription="Crie um novo documento." ma:contentTypeScope="" ma:versionID="294b90a5ecea144b22492e63f47a13df">
  <xsd:schema xmlns:xsd="http://www.w3.org/2001/XMLSchema" xmlns:xs="http://www.w3.org/2001/XMLSchema" xmlns:p="http://schemas.microsoft.com/office/2006/metadata/properties" xmlns:ns3="d8d674a8-5624-47b0-93a3-d7e194eb6094" xmlns:ns4="e9e8db00-9871-41fc-a4a6-2c77378e8664" targetNamespace="http://schemas.microsoft.com/office/2006/metadata/properties" ma:root="true" ma:fieldsID="ecea4f4006ffbf5e84768859cf86a80e" ns3:_="" ns4:_="">
    <xsd:import namespace="d8d674a8-5624-47b0-93a3-d7e194eb6094"/>
    <xsd:import namespace="e9e8db00-9871-41fc-a4a6-2c77378e866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674a8-5624-47b0-93a3-d7e194eb60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e8db00-9871-41fc-a4a6-2c77378e866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BE671E-8EAF-49EF-882E-8E86AF5D8A55}">
  <ds:schemaRefs>
    <ds:schemaRef ds:uri="d8d674a8-5624-47b0-93a3-d7e194eb6094"/>
    <ds:schemaRef ds:uri="e9e8db00-9871-41fc-a4a6-2c77378e86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38C4E5F-8DEE-4153-920C-C127A5C47E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B6B427-A52D-4D6C-85F8-7C403F37F5DA}">
  <ds:schemaRefs>
    <ds:schemaRef ds:uri="d8d674a8-5624-47b0-93a3-d7e194eb6094"/>
    <ds:schemaRef ds:uri="e9e8db00-9871-41fc-a4a6-2c77378e86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Templates_Institucionais_Tema03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Templates_Institucionais_Tema03</vt:lpstr>
      <vt:lpstr>Workflow AI-First Proposta para novos projetos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780</cp:revision>
  <dcterms:created xsi:type="dcterms:W3CDTF">2020-09-24T13:23:55Z</dcterms:created>
  <dcterms:modified xsi:type="dcterms:W3CDTF">2026-08-14T21:54:41Z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0x01010042815BF274F90A47AC3B654A188E5480</vt:lpwstr>
  </property>
  <property fmtid="{D5CDD505-2E9C-101B-9397-08002B2CF9AE}" pid="3" name="MSIP_Label_f6a73fae-5dbd-458a-93e0-5fdf739dc18f_Enabled">
    <vt:lpwstr>true</vt:lpwstr>
  </property>
  <property fmtid="{D5CDD505-2E9C-101B-9397-08002B2CF9AE}" pid="4" name="MSIP_Label_f6a73fae-5dbd-458a-93e0-5fdf739dc18f_SetDate">
    <vt:lpwstr>2022-08-22T12:50:22Z</vt:lpwstr>
  </property>
  <property fmtid="{D5CDD505-2E9C-101B-9397-08002B2CF9AE}" pid="5" name="MSIP_Label_f6a73fae-5dbd-458a-93e0-5fdf739dc18f_Method">
    <vt:lpwstr>Privileged</vt:lpwstr>
  </property>
  <property fmtid="{D5CDD505-2E9C-101B-9397-08002B2CF9AE}" pid="6" name="MSIP_Label_f6a73fae-5dbd-458a-93e0-5fdf739dc18f_Name">
    <vt:lpwstr>f6a73fae-5dbd-458a-93e0-5fdf739dc18f</vt:lpwstr>
  </property>
  <property fmtid="{D5CDD505-2E9C-101B-9397-08002B2CF9AE}" pid="7" name="MSIP_Label_f6a73fae-5dbd-458a-93e0-5fdf739dc18f_SiteId">
    <vt:lpwstr>7575b092-fc5f-4f6c-b7a5-9e9ef7aca80d</vt:lpwstr>
  </property>
  <property fmtid="{D5CDD505-2E9C-101B-9397-08002B2CF9AE}" pid="8" name="MSIP_Label_f6a73fae-5dbd-458a-93e0-5fdf739dc18f_ActionId">
    <vt:lpwstr>f957c2aa-c31f-4164-b3b2-cc8c827ff3a4</vt:lpwstr>
  </property>
  <property fmtid="{D5CDD505-2E9C-101B-9397-08002B2CF9AE}" pid="9" name="MSIP_Label_f6a73fae-5dbd-458a-93e0-5fdf739dc18f_ContentBits">
    <vt:lpwstr>0</vt:lpwstr>
  </property>
  <property fmtid="{D5CDD505-2E9C-101B-9397-08002B2CF9AE}" pid="10" name="MediaServiceImageTags">
    <vt:lpwstr/>
  </property>
</Properties>
</file>